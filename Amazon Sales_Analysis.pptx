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4FCA6-B84A-47E2-A274-8D949E07B44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586E6-7610-4EC0-BE45-F9234C4494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448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0" name="Google Shape;25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92" name="Google Shape;392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23" name="Google Shape;42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985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9205-5464-2C09-A8DA-7E838F5346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5000"/>
              </a:lnSpc>
              <a:spcBef>
                <a:spcPts val="0"/>
              </a:spcBef>
            </a:pPr>
            <a:r>
              <a:rPr lang="en-US" sz="6000" b="1" dirty="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Amazon Sales</a:t>
            </a:r>
            <a:br>
              <a:rPr lang="en-US" sz="6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dirty="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Dashboard Analysis</a:t>
            </a:r>
            <a:br>
              <a:rPr lang="en-US" sz="6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F71E7-FDF2-BDC8-46A9-37AB88359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272" y="3974847"/>
            <a:ext cx="9830671" cy="1175657"/>
          </a:xfrm>
        </p:spPr>
        <p:txBody>
          <a:bodyPr/>
          <a:lstStyle/>
          <a:p>
            <a:r>
              <a:rPr lang="en-US" sz="1800" i="1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Cleaning · Calculated Columns · DAX Measures · 3-Page Interactive Dashboard</a:t>
            </a: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388780-56EE-AF4D-A389-11E2E1CD6A02}"/>
              </a:ext>
            </a:extLst>
          </p:cNvPr>
          <p:cNvSpPr txBox="1"/>
          <p:nvPr/>
        </p:nvSpPr>
        <p:spPr>
          <a:xfrm>
            <a:off x="1414272" y="109797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POWER BI PROJECT</a:t>
            </a: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7696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502920" y="384048"/>
            <a:ext cx="222382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02920" y="384048"/>
            <a:ext cx="2223821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3000"/>
              <a:buFont typeface="Bookman Old Style"/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 This Deck Covers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2"/>
          <p:cNvCxnSpPr/>
          <p:nvPr/>
        </p:nvCxnSpPr>
        <p:spPr>
          <a:xfrm>
            <a:off x="502920" y="1444752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30" name="Google Shape;30;p2"/>
          <p:cNvSpPr/>
          <p:nvPr/>
        </p:nvSpPr>
        <p:spPr>
          <a:xfrm>
            <a:off x="502920" y="160020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04088" y="1819656"/>
            <a:ext cx="548640" cy="54864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04088" y="181965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60"/>
              <a:buFont typeface="Calibri"/>
              <a:buNone/>
            </a:pPr>
            <a:r>
              <a:rPr lang="en-US" sz="1560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417320" y="171907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Objective &amp; Insight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417320" y="207568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Why this dashboard exists and the business question it answers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277063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04088" y="2990088"/>
            <a:ext cx="548640" cy="54864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04088" y="29900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60"/>
              <a:buFont typeface="Calibri"/>
              <a:buNone/>
            </a:pPr>
            <a:r>
              <a:rPr lang="en-US" sz="1560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17320" y="288950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417320" y="324612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6,000-row, 10-column Amazon-style sales dataset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02920" y="394106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04088" y="4160520"/>
            <a:ext cx="548640" cy="54864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04088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60"/>
              <a:buFont typeface="Calibri"/>
              <a:buNone/>
            </a:pPr>
            <a:r>
              <a:rPr lang="en-US" sz="1560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417320" y="405993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17320" y="441655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Power Query steps to fix nulls, duplicates &amp; inconsistent text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2920" y="5111496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04088" y="5330952"/>
            <a:ext cx="548640" cy="54864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04088" y="53309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60"/>
              <a:buFont typeface="Calibri"/>
              <a:buNone/>
            </a:pPr>
            <a:r>
              <a:rPr lang="en-US" sz="1560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417320" y="523036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Calculated Columns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17320" y="5586984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New fields derived inside the data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355080" y="1600200"/>
            <a:ext cx="4791891" cy="886968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556248" y="1819656"/>
            <a:ext cx="548640" cy="54864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556248" y="181965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60"/>
              <a:buFont typeface="Calibri"/>
              <a:buNone/>
            </a:pPr>
            <a:r>
              <a:rPr lang="en-US" sz="1560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269480" y="171907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DAX Measures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269480" y="207568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Reusable calculations that power every visual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355080" y="2770632"/>
            <a:ext cx="4791891" cy="886968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556248" y="2990088"/>
            <a:ext cx="548640" cy="54864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556248" y="29900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60"/>
              <a:buFont typeface="Calibri"/>
              <a:buNone/>
            </a:pPr>
            <a:r>
              <a:rPr lang="en-US" sz="1560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269480" y="288950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Chart Specifications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269480" y="324612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Which chart, which fields, which question it answers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355080" y="3941064"/>
            <a:ext cx="4791891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556248" y="4160520"/>
            <a:ext cx="548640" cy="54864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556248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60"/>
              <a:buFont typeface="Calibri"/>
              <a:buNone/>
            </a:pPr>
            <a:r>
              <a:rPr lang="en-US" sz="1560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269480" y="405993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3-Page Dashboard Layout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269480" y="441655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Sales Overview · Product Analysis · Regional &amp; Customer View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355080" y="5111496"/>
            <a:ext cx="4791891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6556248" y="5330952"/>
            <a:ext cx="548640" cy="54864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556248" y="53309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60"/>
              <a:buFont typeface="Calibri"/>
              <a:buNone/>
            </a:pPr>
            <a:r>
              <a:rPr lang="en-US" sz="1560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269480" y="523036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Key Insights &amp; Recommendations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269480" y="5586984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the numbers actually tell us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Amazon Sales Dashboard  |  Power BI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3000"/>
              <a:buFont typeface="Bookman Old Style"/>
              <a:buNone/>
            </a:pPr>
            <a:r>
              <a:rPr lang="en-US" sz="30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Objective &amp; Business Question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502920" y="1444752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81" name="Google Shape;81;p3"/>
          <p:cNvSpPr/>
          <p:nvPr/>
        </p:nvSpPr>
        <p:spPr>
          <a:xfrm>
            <a:off x="502920" y="1600200"/>
            <a:ext cx="6365966" cy="4434840"/>
          </a:xfrm>
          <a:prstGeom prst="roundRect">
            <a:avLst>
              <a:gd name="adj" fmla="val 2062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77240" y="1810512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77240" y="2176272"/>
            <a:ext cx="6217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Build a 3-page Power BI dashboard on Amazon-style order data that lets a business user move from raw, messy transaction rows to a clean, trusted, interactive view of sales performance — without touching Excel formulas.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3"/>
          <p:cNvCxnSpPr/>
          <p:nvPr/>
        </p:nvCxnSpPr>
        <p:spPr>
          <a:xfrm>
            <a:off x="777240" y="3127248"/>
            <a:ext cx="6172200" cy="0"/>
          </a:xfrm>
          <a:prstGeom prst="straightConnector1">
            <a:avLst/>
          </a:prstGeom>
          <a:noFill/>
          <a:ln w="12700" cap="flat" cmpd="sng">
            <a:solidFill>
              <a:srgbClr val="E2E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" name="Google Shape;85;p3"/>
          <p:cNvSpPr/>
          <p:nvPr/>
        </p:nvSpPr>
        <p:spPr>
          <a:xfrm>
            <a:off x="777240" y="324612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Key Business Questions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77240" y="3639312"/>
            <a:ext cx="292608" cy="29260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77240" y="36393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832"/>
              <a:buFont typeface="Calibri"/>
              <a:buNone/>
            </a:pPr>
            <a:r>
              <a:rPr lang="en-US" sz="832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3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234440" y="3584448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Which categories and products drive the most revenue?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77240" y="4142232"/>
            <a:ext cx="292608" cy="29260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777240" y="41422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832"/>
              <a:buFont typeface="Calibri"/>
              <a:buNone/>
            </a:pPr>
            <a:r>
              <a:rPr lang="en-US" sz="832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3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234440" y="4087368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How does sales performance trend month over month?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77240" y="4645152"/>
            <a:ext cx="292608" cy="29260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777240" y="46451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832"/>
              <a:buFont typeface="Calibri"/>
              <a:buNone/>
            </a:pPr>
            <a:r>
              <a:rPr lang="en-US" sz="832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3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234440" y="4590288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Which regions and payment methods should we prioritize?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77240" y="5148072"/>
            <a:ext cx="292608" cy="29260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777240" y="51480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832"/>
              <a:buFont typeface="Calibri"/>
              <a:buNone/>
            </a:pPr>
            <a:r>
              <a:rPr lang="en-US" sz="832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3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234440" y="5093208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How much of our raw data is unreliable — and does it change the answer?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223760" y="1600200"/>
            <a:ext cx="4880283" cy="4206240"/>
          </a:xfrm>
          <a:prstGeom prst="roundRect">
            <a:avLst>
              <a:gd name="adj" fmla="val 2151"/>
            </a:avLst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3"/>
          <p:cNvSpPr/>
          <p:nvPr/>
        </p:nvSpPr>
        <p:spPr>
          <a:xfrm>
            <a:off x="7772400" y="1874520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777240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430"/>
              <a:buFont typeface="Calibri"/>
              <a:buNone/>
            </a:pPr>
            <a:r>
              <a:rPr lang="en-US" sz="143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412480" y="18745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Headline Insight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726680" y="2542032"/>
            <a:ext cx="3703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000"/>
              <a:buFont typeface="Bookman Old Style"/>
              <a:buNone/>
            </a:pPr>
            <a:r>
              <a:rPr lang="en-US" sz="4000" b="1" dirty="0">
                <a:solidFill>
                  <a:srgbClr val="FF99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62.9M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726680" y="324612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clean sales across 5,820 valid orders — after removing 180 duplicate rows and 508 incomplete rows from the raw 6,000-row extract.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3"/>
          <p:cNvCxnSpPr/>
          <p:nvPr/>
        </p:nvCxnSpPr>
        <p:spPr>
          <a:xfrm>
            <a:off x="7726680" y="4434840"/>
            <a:ext cx="3657600" cy="0"/>
          </a:xfrm>
          <a:prstGeom prst="straightConnector1">
            <a:avLst/>
          </a:prstGeom>
          <a:noFill/>
          <a:ln w="19050" cap="flat" cmpd="sng">
            <a:solidFill>
              <a:srgbClr val="3747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3"/>
          <p:cNvSpPr/>
          <p:nvPr/>
        </p:nvSpPr>
        <p:spPr>
          <a:xfrm>
            <a:off x="7726680" y="461772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Furniture is the #1 category by revenue (₹2.15 Cr) despite ranking last in units sold — a high-value, low-volume product line.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Amazon Sales Dashboard  |  Power BI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3000"/>
              <a:buFont typeface="Bookman Old Style"/>
              <a:buNone/>
            </a:pPr>
            <a:r>
              <a:rPr lang="en-US" sz="30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Dataset Overview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502920" y="1444752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117" name="Google Shape;117;p4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amazon_sales_dashboard_data.csv  ·  6,000 rows  ×  10 columns  ·  Jan 2023 – Dec 2024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4"/>
          <p:cNvGraphicFramePr/>
          <p:nvPr/>
        </p:nvGraphicFramePr>
        <p:xfrm>
          <a:off x="502920" y="1901952"/>
          <a:ext cx="7635250" cy="44255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9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Type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Order_ID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Unique order identifier (e.g. AMZ100243)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Order_Date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the order was placed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category (10 categories)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Product_Name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Specific product ordered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Quantity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Whole Number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Units purchased in the order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Decimal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price in ₹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Decimal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Quantity × Price (raw, pre-cleaning)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 / South / East / West / Central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Customer_Name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full name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Payment_Method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Credit Card, UPI, COD, etc.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9" name="Google Shape;119;p4"/>
          <p:cNvSpPr/>
          <p:nvPr/>
        </p:nvSpPr>
        <p:spPr>
          <a:xfrm>
            <a:off x="8366760" y="1901952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8595360" y="208483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Raw Data Snapshot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595360" y="254203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2600"/>
              <a:buFont typeface="Bookman Old Style"/>
              <a:buNone/>
            </a:pPr>
            <a:r>
              <a:rPr lang="en-US" sz="2600" b="1">
                <a:solidFill>
                  <a:srgbClr val="E67E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6,000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595360" y="299923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total rows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595360" y="34747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2600"/>
              <a:buFont typeface="Bookman Old Style"/>
              <a:buNone/>
            </a:pPr>
            <a:r>
              <a:rPr lang="en-US" sz="2600" b="1">
                <a:solidFill>
                  <a:srgbClr val="E67E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180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8595360" y="393192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exact duplicate rows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595360" y="44074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2600"/>
              <a:buFont typeface="Bookman Old Style"/>
              <a:buNone/>
            </a:pPr>
            <a:r>
              <a:rPr lang="en-US" sz="2600" b="1">
                <a:solidFill>
                  <a:srgbClr val="E67E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508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595360" y="486460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rows with missing values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595360" y="5340096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2600"/>
              <a:buFont typeface="Bookman Old Style"/>
              <a:buNone/>
            </a:pPr>
            <a:r>
              <a:rPr lang="en-US" sz="2600" b="1">
                <a:solidFill>
                  <a:srgbClr val="E67E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5,820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595360" y="5797296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clean, unique orders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Amazon Sales Dashboard  |  Power BI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3000"/>
              <a:buFont typeface="Bookman Old Style"/>
              <a:buNone/>
            </a:pPr>
            <a:r>
              <a:rPr lang="en-US" sz="30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 Cleaning in Power Query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5"/>
          <p:cNvCxnSpPr/>
          <p:nvPr/>
        </p:nvCxnSpPr>
        <p:spPr>
          <a:xfrm>
            <a:off x="502920" y="1444752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140" name="Google Shape;140;p5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Query steps applied, in order, inside Power Query Editor before loading to the data model: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02920" y="1920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30936" y="2066544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0936" y="2066544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Bookman Old Style"/>
              <a:buNone/>
            </a:pPr>
            <a:r>
              <a:rPr lang="en-US" sz="1600" b="1">
                <a:solidFill>
                  <a:srgbClr val="FF99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399032" y="201168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Promote Headers &amp; Set Types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399032" y="2322576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First row → headers; set Order_Date to Date, Quantity/Price/Sales to Decimal Number.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02920" y="29809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30936" y="3127248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30936" y="312724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Bookman Old Style"/>
              <a:buNone/>
            </a:pPr>
            <a:r>
              <a:rPr lang="en-US" sz="1600" b="1">
                <a:solidFill>
                  <a:srgbClr val="FF99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399032" y="3072384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Trim &amp; Clean Text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399032" y="338328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Applied to Region — removes leading/trailing spaces (" North", "South ") picked up at source.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2920" y="404164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630936" y="4187952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630936" y="4187952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Bookman Old Style"/>
              <a:buNone/>
            </a:pPr>
            <a:r>
              <a:rPr lang="en-US" sz="1600" b="1">
                <a:solidFill>
                  <a:srgbClr val="FF99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399032" y="4133088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Standardize Case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399032" y="4443984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Format &gt; Capitalize Each Word on Region so "north", "NORTH", "North" all merge into one value.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02920" y="510235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630936" y="524865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630936" y="5248656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Bookman Old Style"/>
              <a:buNone/>
            </a:pPr>
            <a:r>
              <a:rPr lang="en-US" sz="1600" b="1">
                <a:solidFill>
                  <a:srgbClr val="FF99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399032" y="5193792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Remove Duplicate Rows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399032" y="550468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Remove Rows &gt; Remove Duplicates across all columns — removed 180 exact duplicate order rows.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309360" y="1920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437376" y="2066544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437376" y="2066544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Bookman Old Style"/>
              <a:buNone/>
            </a:pPr>
            <a:r>
              <a:rPr lang="en-US" sz="1600" b="1">
                <a:solidFill>
                  <a:srgbClr val="FF99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205472" y="201168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Handle Missing Values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205472" y="2322576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Filtered/flagged blanks in Region, Payment_Method, Customer_Name, Price &amp; Quantity (508 rows) rather than silently guessing.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309360" y="29809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437376" y="3127248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437376" y="312724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Bookman Old Style"/>
              <a:buNone/>
            </a:pPr>
            <a:r>
              <a:rPr lang="en-US" sz="1600" b="1">
                <a:solidFill>
                  <a:srgbClr val="FF99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205472" y="3072384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Filter Invalid Rows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205472" y="338328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Removed rows where Quantity ≤ 0 — data-entry errors that would distort revenue totals.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309360" y="404164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437376" y="4187952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6437376" y="4187952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Bookman Old Style"/>
              <a:buNone/>
            </a:pPr>
            <a:r>
              <a:rPr lang="en-US" sz="1600" b="1">
                <a:solidFill>
                  <a:srgbClr val="FF99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205472" y="4133088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Recompute Sales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205472" y="4443984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Replaced the raw Sales column with a calculated column so every row is internally consistent.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309360" y="510235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6437376" y="524865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6437376" y="5248656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Bookman Old Style"/>
              <a:buNone/>
            </a:pPr>
            <a:r>
              <a:rPr lang="en-US" sz="1600" b="1">
                <a:solidFill>
                  <a:srgbClr val="FF99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205472" y="5193792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Close &amp; Load to Model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205472" y="550468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Loaded the cleaned table into the Power BI data model for measures and visuals.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Amazon Sales Dashboard  |  Power BI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3000"/>
              <a:buFont typeface="Bookman Old Style"/>
              <a:buNone/>
            </a:pPr>
            <a:r>
              <a:rPr lang="en-US" sz="30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Calculated Columns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6"/>
          <p:cNvCxnSpPr/>
          <p:nvPr/>
        </p:nvCxnSpPr>
        <p:spPr>
          <a:xfrm>
            <a:off x="502920" y="1444752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192" name="Google Shape;192;p6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Added inside the Power BI data model (Table view &gt; New Column) — computed row-by-row and stored in the table.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6"/>
          <p:cNvGraphicFramePr/>
          <p:nvPr>
            <p:extLst>
              <p:ext uri="{D42A27DB-BD31-4B8C-83A1-F6EECF244321}">
                <p14:modId xmlns:p14="http://schemas.microsoft.com/office/powerpoint/2010/main" val="2430282490"/>
              </p:ext>
            </p:extLst>
          </p:nvPr>
        </p:nvGraphicFramePr>
        <p:xfrm>
          <a:off x="502920" y="1901951"/>
          <a:ext cx="10524309" cy="33231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82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0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68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 Month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930"/>
                        <a:buFont typeface="Courier New"/>
                        <a:buNone/>
                      </a:pPr>
                      <a:r>
                        <a:rPr lang="en-US" sz="9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 Month = FORMAT(</a:t>
                      </a:r>
                      <a:r>
                        <a:rPr lang="en-US" sz="930" u="none" strike="noStrike" cap="none" dirty="0" err="1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Amazon_sales</a:t>
                      </a:r>
                      <a:r>
                        <a:rPr lang="en-US" sz="9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</a:t>
                      </a:r>
                      <a:r>
                        <a:rPr lang="en-US" sz="930" u="none" strike="noStrike" cap="none" dirty="0" err="1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Order_Date</a:t>
                      </a:r>
                      <a:r>
                        <a:rPr lang="en-US" sz="9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 "MMM YYYY")</a:t>
                      </a:r>
                      <a:endParaRPr sz="930" u="none" strike="noStrike" cap="none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 label for slicers and axis grouping without altering the underlying date.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68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 Year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930"/>
                        <a:buFont typeface="Courier New"/>
                        <a:buNone/>
                      </a:pPr>
                      <a:r>
                        <a:rPr lang="en-US" sz="9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 Year = YEAR(</a:t>
                      </a:r>
                      <a:r>
                        <a:rPr lang="en-US" sz="930" u="none" strike="noStrike" cap="none" dirty="0" err="1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Amazon_sales</a:t>
                      </a:r>
                      <a:r>
                        <a:rPr lang="en-US" sz="9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</a:t>
                      </a:r>
                      <a:r>
                        <a:rPr lang="en-US" sz="930" u="none" strike="noStrike" cap="none" dirty="0" err="1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Order_Date</a:t>
                      </a:r>
                      <a:r>
                        <a:rPr lang="en-US" sz="9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])</a:t>
                      </a:r>
                      <a:endParaRPr sz="930" u="none" strike="noStrike" cap="none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Enables year-over-year filters and visuals.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 dirty="0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Tier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930"/>
                        <a:buFont typeface="Courier New"/>
                        <a:buNone/>
                      </a:pPr>
                      <a:r>
                        <a:rPr lang="en-US" sz="9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Price Tier = IF(</a:t>
                      </a:r>
                      <a:r>
                        <a:rPr lang="en-US" sz="930" u="none" strike="noStrike" cap="none" dirty="0" err="1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Amazon_sales</a:t>
                      </a:r>
                      <a:r>
                        <a:rPr lang="en-US" sz="9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[Price] &gt;= 3000, "Premium", IF(</a:t>
                      </a:r>
                      <a:r>
                        <a:rPr lang="en-US" sz="930" u="none" strike="noStrike" cap="none" dirty="0" err="1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Amazon_sales</a:t>
                      </a:r>
                      <a:r>
                        <a:rPr lang="en-US" sz="9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[Price] &gt;= 1000, "Mid", "Budget"))</a:t>
                      </a:r>
                      <a:endParaRPr sz="930" u="none" strike="noStrike" cap="none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Buckets products into pricing segments for the Product Analysis page.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Weekend Order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930"/>
                        <a:buFont typeface="Courier New"/>
                        <a:buNone/>
                      </a:pPr>
                      <a:r>
                        <a:rPr lang="en-US" sz="14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Is Weekend = IF(WEEKDAY(</a:t>
                      </a:r>
                      <a:r>
                        <a:rPr lang="en-US" sz="1430" u="none" strike="noStrike" cap="none" dirty="0" err="1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Amazon_sales</a:t>
                      </a:r>
                      <a:r>
                        <a:rPr lang="en-US" sz="14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</a:t>
                      </a:r>
                      <a:r>
                        <a:rPr lang="en-US" sz="1430" u="none" strike="noStrike" cap="none" dirty="0" err="1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Order_Date</a:t>
                      </a:r>
                      <a:r>
                        <a:rPr lang="en-US" sz="1430" u="none" strike="noStrike" cap="none" dirty="0">
                          <a:solidFill>
                            <a:srgbClr val="E67E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],2) &gt; 5, "Weekend", "Weekday")</a:t>
                      </a:r>
                      <a:endParaRPr sz="1430" u="none" strike="noStrike" cap="none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Flags weekend vs weekday orders for demand-pattern analysis.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4" name="Google Shape;194;p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Amazon Sales Dashboard  |  Power BI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3000"/>
              <a:buFont typeface="Bookman Old Style"/>
              <a:buNone/>
            </a:pPr>
            <a:r>
              <a:rPr lang="en-US" sz="30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DAX Measures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7"/>
          <p:cNvCxnSpPr/>
          <p:nvPr/>
        </p:nvCxnSpPr>
        <p:spPr>
          <a:xfrm>
            <a:off x="502920" y="1444752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05" name="Google Shape;205;p7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Added in Report view (Modeling &gt; New Measure) — calculated on the fly in the current filter context, used by every chart &amp; KPI card.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02920" y="1920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49224" y="2048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649224" y="20482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051560" y="1993392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Total Sales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49224" y="2322576"/>
            <a:ext cx="519379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860"/>
              <a:buFont typeface="Courier New"/>
              <a:buNone/>
            </a:pPr>
            <a:r>
              <a:rPr lang="en-US" sz="860" dirty="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SUM(Amazon_sales[Sales])</a:t>
            </a:r>
            <a:endParaRPr sz="86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02920" y="29809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649224" y="31089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49224" y="31089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051560" y="3054096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Total Orders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49224" y="3383280"/>
            <a:ext cx="519379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860"/>
              <a:buFont typeface="Courier New"/>
              <a:buNone/>
            </a:pPr>
            <a:r>
              <a:rPr lang="en-US" sz="860" dirty="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DISTINCTCOUNT(Amazon_sales[</a:t>
            </a:r>
            <a:r>
              <a:rPr lang="en-US" sz="860" dirty="0" err="1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Order_ID</a:t>
            </a:r>
            <a:r>
              <a:rPr lang="en-US" sz="860" dirty="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86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02920" y="404164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49224" y="41696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49224" y="416966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051560" y="4114800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 dirty="0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Units Sold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49224" y="4443984"/>
            <a:ext cx="519379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860"/>
              <a:buFont typeface="Courier New"/>
              <a:buNone/>
            </a:pPr>
            <a:r>
              <a:rPr lang="en-US" sz="860" dirty="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SUM(Amazon_sales[Quantity])</a:t>
            </a:r>
            <a:endParaRPr sz="86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02920" y="510235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649224" y="52303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49224" y="523036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051560" y="5175504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Avg Order Value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49224" y="5504688"/>
            <a:ext cx="519379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DIVIDE([Total Sales], [Total Orders])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309360" y="1920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6455664" y="2048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6455664" y="20482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858000" y="1993392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Total Customers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455664" y="2322576"/>
            <a:ext cx="519379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860"/>
              <a:buFont typeface="Courier New"/>
              <a:buNone/>
            </a:pPr>
            <a:r>
              <a:rPr lang="en-US" sz="860" dirty="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DISTINCTCOUNT(Amazon_sales[</a:t>
            </a:r>
            <a:r>
              <a:rPr lang="en-US" sz="860" dirty="0" err="1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Customer_Name</a:t>
            </a:r>
            <a:r>
              <a:rPr lang="en-US" sz="860" dirty="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86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309360" y="29809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455664" y="31089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455664" y="31089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858000" y="3054096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Sales MoM % Change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455664" y="3383280"/>
            <a:ext cx="519379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860"/>
              <a:buFont typeface="Courier New"/>
              <a:buNone/>
            </a:pPr>
            <a:r>
              <a:rPr lang="en-US" sz="860" dirty="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DIVIDE([Total Sales] - CALCULATE([Total Sales], DATEADD(Amazon_sales[</a:t>
            </a:r>
            <a:r>
              <a:rPr lang="en-US" sz="860" dirty="0" err="1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Order_Date</a:t>
            </a:r>
            <a:r>
              <a:rPr lang="en-US" sz="860" dirty="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], -1, MONTH)), CALCULATE([Total Sales], DATEADD(Amazon_sales[</a:t>
            </a:r>
            <a:r>
              <a:rPr lang="en-US" sz="860" dirty="0" err="1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Order_Date</a:t>
            </a:r>
            <a:r>
              <a:rPr lang="en-US" sz="860" dirty="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], -1, MONTH)))</a:t>
            </a:r>
            <a:endParaRPr sz="86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6336792" y="463600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6455664" y="41696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6455664" y="416966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858000" y="4114800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Top Category Sales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336792" y="4443984"/>
            <a:ext cx="53126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CALCULATE([Total Sales], TOPN(1, VALUES(Amazon_Data[Category]), [Total Sales]))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309360" y="510235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6455664" y="52303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6455664" y="523036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858000" y="5175504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% of Total Sales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455664" y="5504688"/>
            <a:ext cx="519379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E67E00"/>
                </a:solidFill>
                <a:latin typeface="Courier New"/>
                <a:ea typeface="Courier New"/>
                <a:cs typeface="Courier New"/>
                <a:sym typeface="Courier New"/>
              </a:rPr>
              <a:t>DIVIDE([Total Sales], CALCULATE([Total Sales], ALL(Amazon_Data)))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Amazon Sales Dashboard  |  Power BI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SECTION 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3000"/>
              <a:buFont typeface="Bookman Old Style"/>
              <a:buNone/>
            </a:pPr>
            <a:r>
              <a:rPr lang="en-US" sz="30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Chart Specifications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8"/>
          <p:cNvCxnSpPr/>
          <p:nvPr/>
        </p:nvCxnSpPr>
        <p:spPr>
          <a:xfrm>
            <a:off x="502920" y="1444752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57" name="Google Shape;257;p8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visual is scoped to one clear question — mapped to the dashboard page it appears 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8" name="Google Shape;258;p8"/>
          <p:cNvGraphicFramePr/>
          <p:nvPr>
            <p:extLst>
              <p:ext uri="{D42A27DB-BD31-4B8C-83A1-F6EECF244321}">
                <p14:modId xmlns:p14="http://schemas.microsoft.com/office/powerpoint/2010/main" val="2115805184"/>
              </p:ext>
            </p:extLst>
          </p:nvPr>
        </p:nvGraphicFramePr>
        <p:xfrm>
          <a:off x="502920" y="1810512"/>
          <a:ext cx="11201400" cy="4297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Chart Type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Fields Used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It Answers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1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 Chart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 Month (axis) × Total Sales (value)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i="1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revenue trending up or down over time?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1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Donut Chart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Payment_Method (legend) × Total Sales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i="1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Which payment method contributes most revenue?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1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Bar Chart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 (axis) × Total Sales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i="1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Which region sells the most, at a glance?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 dirty="0" err="1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Clustere</a:t>
                      </a:r>
                      <a:r>
                        <a:rPr lang="en-US" sz="1050" b="1" u="none" strike="noStrike" cap="none" dirty="0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Bar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 (axis) × Total Sales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i="1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Which categories drive revenue?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 Chart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Product_Name (Top 5) × Total Sales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i="1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are our five best-selling products?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Clustered Column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 × Units sold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i="1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does volume differ from revenue?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Bar Chart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 × Total Orders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i="1" u="none" strike="noStrike" cap="none" dirty="0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Which region places the most orders (not just ₹)?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Donut Chart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 × Total Sales share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i="1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% share does each region hold?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F3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32F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 Chart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B1F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Payment_Method × Total Orders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i="1" u="none" strike="noStrike" cap="none" dirty="0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Which payment method is used most often?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9" name="Google Shape;259;p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Amazon Sales Dashboard  |  Power BI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15D034-7ABD-C1A8-F2CC-A300CB9D9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01" y="130628"/>
            <a:ext cx="11281129" cy="672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6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4E6DCC-821C-0AB0-7D93-A84FECF6E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781" y="29986"/>
            <a:ext cx="12245781" cy="682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3BABD8-3A47-60F1-5630-5C682131A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561" y="-206829"/>
            <a:ext cx="12227561" cy="759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3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SECTION 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3000"/>
              <a:buFont typeface="Bookman Old Style"/>
              <a:buNone/>
            </a:pPr>
            <a:r>
              <a:rPr lang="en-US" sz="30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Key Insights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12"/>
          <p:cNvCxnSpPr/>
          <p:nvPr/>
        </p:nvCxnSpPr>
        <p:spPr>
          <a:xfrm>
            <a:off x="502920" y="1444752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399" name="Google Shape;399;p12"/>
          <p:cNvSpPr/>
          <p:nvPr/>
        </p:nvSpPr>
        <p:spPr>
          <a:xfrm>
            <a:off x="502920" y="164592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70408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704088" y="1847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Font typeface="Bookman Old Style"/>
              <a:buNone/>
            </a:pPr>
            <a:r>
              <a:rPr lang="en-US" sz="18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325880" y="182880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Furniture leads on revenue, not volume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758952" y="2432304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Furniture earns ₹2.15 Cr (34% of total sales) from just 2,973 units — the lowest unit count of any category. High average selling price, not order count, drives this category.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6355080" y="164592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655624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6556248" y="1847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Font typeface="Bookman Old Style"/>
              <a:buNone/>
            </a:pPr>
            <a:r>
              <a:rPr lang="en-US" sz="18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7178040" y="182880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No single region dominates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6611112" y="2432304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Sales are evenly spread: South leads at ₹1.29 Cr but trails Central (last place) by only 13%. Regional strategy should focus on category mix, not broad regional pushes.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502920" y="379476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70408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704088" y="3995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Font typeface="Bookman Old Style"/>
              <a:buNone/>
            </a:pPr>
            <a:r>
              <a:rPr lang="en-US" sz="18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1325880" y="39776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Card payments still lead, but the gap is narrowing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758952" y="4581144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Credit Card (₹1.08 Cr) and Debit Card (₹1.07 Cr) top the list, but UPI — the newest method — already accounts for ₹93.5 L, showing fast digital-payment adoption.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6355080" y="379476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655624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6556248" y="3995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Font typeface="Bookman Old Style"/>
              <a:buNone/>
            </a:pPr>
            <a:r>
              <a:rPr lang="en-US" sz="1800" b="1">
                <a:solidFill>
                  <a:srgbClr val="232F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7178040" y="39776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8% of raw data was unusable before cleaning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6611112" y="4581144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B1F23"/>
                </a:solidFill>
                <a:latin typeface="Calibri"/>
                <a:ea typeface="Calibri"/>
                <a:cs typeface="Calibri"/>
                <a:sym typeface="Calibri"/>
              </a:rPr>
              <a:t>180 duplicate rows + 508 rows with missing Region, Payment Method, Customer, Price or Quantity had to be resolved in Power Query — without this step, revenue totals would have been overstated.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Amazon Sales Dashboard  |  Power BI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3"/>
          <p:cNvSpPr/>
          <p:nvPr/>
        </p:nvSpPr>
        <p:spPr>
          <a:xfrm>
            <a:off x="502920" y="502920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502920" y="502920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502920" y="96012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lang="en-US" sz="3000" b="1" dirty="0">
                <a:latin typeface="Bookman Old Style"/>
                <a:ea typeface="Bookman Old Style"/>
                <a:cs typeface="Bookman Old Style"/>
                <a:sym typeface="Bookman Old Style"/>
              </a:rPr>
              <a:t>From Raw Rows to a Trusted Dashboard</a:t>
            </a:r>
            <a:endParaRPr sz="30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02920" y="1828800"/>
            <a:ext cx="66751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lang="en-US" sz="1350" dirty="0">
                <a:latin typeface="Calibri"/>
                <a:ea typeface="Calibri"/>
                <a:cs typeface="Calibri"/>
                <a:sym typeface="Calibri"/>
              </a:rPr>
              <a:t>A disciplined Power Query cleanup — deduping, trimming, standardizing case and filtering invalid rows — turned a noisy 6,000-row export into 5,820 trustworthy orders. Calculated columns and DAX measures then made every KPI and chart consistent across all three dashboard pages.</a:t>
            </a:r>
            <a:endParaRPr sz="135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502920" y="3429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502920" y="3840480"/>
            <a:ext cx="274320" cy="2743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502920" y="38404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780"/>
              <a:buFont typeface="Calibri"/>
              <a:buNone/>
            </a:pPr>
            <a:r>
              <a:rPr lang="en-US" sz="78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932688" y="3776472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Double down on Furniture &amp; Electronics — highest revenue per unit sold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502920" y="4343400"/>
            <a:ext cx="274320" cy="2743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502920" y="43434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780"/>
              <a:buFont typeface="Calibri"/>
              <a:buNone/>
            </a:pPr>
            <a:r>
              <a:rPr lang="en-US" sz="78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932688" y="4279392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Investigate the October dip (both years) for seasonality or stock issues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502920" y="4846320"/>
            <a:ext cx="274320" cy="2743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502920" y="48463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780"/>
              <a:buFont typeface="Calibri"/>
              <a:buNone/>
            </a:pPr>
            <a:r>
              <a:rPr lang="en-US" sz="78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932688" y="4782312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Promote UPI/Amazon Pay to shift customers off higher-friction COD orders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502920" y="5349240"/>
            <a:ext cx="274320" cy="2743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502920" y="53492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780"/>
              <a:buFont typeface="Calibri"/>
              <a:buNone/>
            </a:pPr>
            <a:r>
              <a:rPr lang="en-US" sz="780" b="1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932688" y="5285232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Automate the Power Query cleaning steps so every data refresh stays trustworthy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7863840" y="18288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3747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8138160" y="20574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8138160" y="256032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8394192" y="244144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6,000-row source CSV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8138160" y="310896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8394192" y="299008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Cleaned Power Query model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8138160" y="365760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8394192" y="353872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 calculated columns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8138160" y="420624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8394192" y="408736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8+ DAX measures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8138160" y="475488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8394192" y="463600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9 charts across 3 pages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8138160" y="530352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8394192" y="518464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This summary deck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63</TotalTime>
  <Words>1574</Words>
  <Application>Microsoft Office PowerPoint</Application>
  <PresentationFormat>Widescreen</PresentationFormat>
  <Paragraphs>265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Bookman Old Style</vt:lpstr>
      <vt:lpstr>Calibri</vt:lpstr>
      <vt:lpstr>Century Schoolbook</vt:lpstr>
      <vt:lpstr>Courier New</vt:lpstr>
      <vt:lpstr>Wingdings 2</vt:lpstr>
      <vt:lpstr>View</vt:lpstr>
      <vt:lpstr>Amazon Sales Dashboard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Anjana PC</dc:creator>
  <cp:lastModifiedBy>Anjana PC</cp:lastModifiedBy>
  <cp:revision>13</cp:revision>
  <dcterms:created xsi:type="dcterms:W3CDTF">2026-09-28T10:09:37Z</dcterms:created>
  <dcterms:modified xsi:type="dcterms:W3CDTF">2026-10-01T15:07:51Z</dcterms:modified>
</cp:coreProperties>
</file>