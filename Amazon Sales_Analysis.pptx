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notesMasterIdLst>
    <p:notesMasterId r:id="rId15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70" r:id="rId12"/>
    <p:sldId id="269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24FCA6-B84A-47E2-A274-8D949E07B442}" type="datetimeFigureOut">
              <a:rPr lang="en-IN" smtClean="0"/>
              <a:t>01-10-2026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B586E6-7610-4EC0-BE45-F9234C4494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8448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3" name="Google Shape;23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74" name="Google Shape;74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85" name="Google Shape;185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98" name="Google Shape;198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50" name="Google Shape;250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92" name="Google Shape;392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423" name="Google Shape;423;p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9E016143-E03C-4CFD-AFDC-14E5BDEA754C}" type="datetimeFigureOut">
              <a:rPr lang="en-US" dirty="0"/>
              <a:t>10/1/2026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94063-DF36-4330-A365-08DA1FA5B7D6}" type="datetimeFigureOut">
              <a:rPr lang="en-US" dirty="0"/>
              <a:t>10/1/2026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A7C6C-0F39-4D70-8E8D-FE5B9C95FA73}" type="datetimeFigureOut">
              <a:rPr lang="en-US" dirty="0"/>
              <a:t>10/1/2026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FA4AC-08CC-42CE-BD01-C191750A04EC}" type="datetimeFigureOut">
              <a:rPr lang="en-US" dirty="0"/>
              <a:t>10/1/2026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7A723-92A7-435B-B681-F25B092FEFEB}" type="datetimeFigureOut">
              <a:rPr lang="en-US" dirty="0"/>
              <a:t>10/1/2026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0639-886C-4FCF-9EAB-ABB5DA3F3F4A}" type="datetimeFigureOut">
              <a:rPr lang="en-US" dirty="0"/>
              <a:t>10/1/2026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30651-31F4-45D2-98AE-A2108F41BC07}" type="datetimeFigureOut">
              <a:rPr lang="en-US" dirty="0"/>
              <a:t>10/1/2026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3789A-C914-4DB1-8815-80B5EC7335C5}" type="datetimeFigureOut">
              <a:rPr lang="en-US" dirty="0"/>
              <a:t>10/1/2026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440AA-91A0-436F-8FDB-C0F939DCAE21}" type="datetimeFigureOut">
              <a:rPr lang="en-US" dirty="0"/>
              <a:t>10/1/2026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33E54A-A8CA-48C1-9504-691B58049D29}" type="datetimeFigureOut">
              <a:rPr lang="en-US" dirty="0"/>
              <a:t>10/1/2026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6C806-BBF7-471C-9527-881CE2266695}" type="datetimeFigureOut">
              <a:rPr lang="en-US" dirty="0"/>
              <a:t>10/1/2026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8985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0E59FD0C-5451-4CA0-86AF-E70AE3279989}" type="datetimeFigureOut">
              <a:rPr lang="en-US" dirty="0"/>
              <a:t>10/1/2026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  <p:sldLayoutId id="2147483852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mp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E9205-5464-2C09-A8DA-7E838F5346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5000"/>
              </a:lnSpc>
              <a:spcBef>
                <a:spcPts val="0"/>
              </a:spcBef>
            </a:pPr>
            <a:r>
              <a:rPr lang="en-US" sz="6000" b="1" dirty="0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Amazon Sales</a:t>
            </a:r>
            <a:br>
              <a:rPr lang="en-US" sz="6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6000" b="1" dirty="0">
                <a:solidFill>
                  <a:srgbClr val="FFFFF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Dashboard Analysis</a:t>
            </a:r>
            <a:br>
              <a:rPr lang="en-US" sz="6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IN" sz="6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EF71E7-FDF2-BDC8-46A9-37AB88359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4272" y="3974847"/>
            <a:ext cx="9830671" cy="1175657"/>
          </a:xfrm>
        </p:spPr>
        <p:txBody>
          <a:bodyPr/>
          <a:lstStyle/>
          <a:p>
            <a:r>
              <a:rPr lang="en-US" sz="1800" i="1" dirty="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Data Cleaning · Calculated Columns · DAX Measures · 3-Page Interactive Dashboard</a:t>
            </a:r>
            <a:endParaRPr lang="en-US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388780-56EE-AF4D-A389-11E2E1CD6A02}"/>
              </a:ext>
            </a:extLst>
          </p:cNvPr>
          <p:cNvSpPr txBox="1"/>
          <p:nvPr/>
        </p:nvSpPr>
        <p:spPr>
          <a:xfrm>
            <a:off x="1414272" y="109797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400"/>
              <a:buFont typeface="Calibri"/>
              <a:buNone/>
            </a:pPr>
            <a:r>
              <a:rPr lang="en-US" sz="1400" b="1" i="0" u="none" strike="noStrike" cap="none" dirty="0">
                <a:solidFill>
                  <a:srgbClr val="FF9900"/>
                </a:solidFill>
                <a:latin typeface="Calibri"/>
                <a:ea typeface="Calibri"/>
                <a:cs typeface="Calibri"/>
                <a:sym typeface="Calibri"/>
              </a:rPr>
              <a:t>POWER BI PROJECT</a:t>
            </a:r>
            <a:endParaRPr lang="en-US"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67696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"/>
          <p:cNvSpPr/>
          <p:nvPr/>
        </p:nvSpPr>
        <p:spPr>
          <a:xfrm>
            <a:off x="502920" y="384048"/>
            <a:ext cx="2223821" cy="310896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502920" y="384048"/>
            <a:ext cx="2223821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2"/>
          <p:cNvSpPr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3000"/>
              <a:buFont typeface="Bookman Old Style"/>
              <a:buNone/>
            </a:pPr>
            <a:r>
              <a:rPr lang="en-US" sz="3000" b="1" dirty="0">
                <a:solidFill>
                  <a:srgbClr val="232F3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What This Deck Covers</a:t>
            </a:r>
            <a:endParaRPr sz="3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" name="Google Shape;29;p2"/>
          <p:cNvCxnSpPr/>
          <p:nvPr/>
        </p:nvCxnSpPr>
        <p:spPr>
          <a:xfrm>
            <a:off x="502920" y="1444752"/>
            <a:ext cx="0" cy="0"/>
          </a:xfrm>
          <a:prstGeom prst="straightConnector1">
            <a:avLst/>
          </a:prstGeom>
          <a:noFill/>
          <a:ln>
            <a:noFill/>
          </a:ln>
        </p:spPr>
      </p:cxnSp>
      <p:sp>
        <p:nvSpPr>
          <p:cNvPr id="30" name="Google Shape;30;p2"/>
          <p:cNvSpPr/>
          <p:nvPr/>
        </p:nvSpPr>
        <p:spPr>
          <a:xfrm>
            <a:off x="502920" y="1600200"/>
            <a:ext cx="5394960" cy="987552"/>
          </a:xfrm>
          <a:prstGeom prst="roundRect">
            <a:avLst>
              <a:gd name="adj" fmla="val 8333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704088" y="1819656"/>
            <a:ext cx="548640" cy="548640"/>
          </a:xfrm>
          <a:prstGeom prst="ellipse">
            <a:avLst/>
          </a:prstGeom>
          <a:solidFill>
            <a:srgbClr val="232F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704088" y="1819656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60"/>
              <a:buFont typeface="Calibri"/>
              <a:buNone/>
            </a:pPr>
            <a:r>
              <a:rPr lang="en-US" sz="1560" b="1">
                <a:solidFill>
                  <a:srgbClr val="FF99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6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1417320" y="1719072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450"/>
              <a:buFont typeface="Calibri"/>
              <a:buNone/>
            </a:pPr>
            <a:r>
              <a:rPr lang="en-US" sz="14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Objective &amp; Insight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1417320" y="2075688"/>
            <a:ext cx="42976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Why this dashboard exists and the business question it answers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502920" y="2770632"/>
            <a:ext cx="5394960" cy="987552"/>
          </a:xfrm>
          <a:prstGeom prst="roundRect">
            <a:avLst>
              <a:gd name="adj" fmla="val 8333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704088" y="2990088"/>
            <a:ext cx="548640" cy="548640"/>
          </a:xfrm>
          <a:prstGeom prst="ellipse">
            <a:avLst/>
          </a:prstGeom>
          <a:solidFill>
            <a:srgbClr val="232F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704088" y="299008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60"/>
              <a:buFont typeface="Calibri"/>
              <a:buNone/>
            </a:pPr>
            <a:r>
              <a:rPr lang="en-US" sz="1560" b="1">
                <a:solidFill>
                  <a:srgbClr val="FF99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56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1417320" y="2889504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450"/>
              <a:buFont typeface="Calibri"/>
              <a:buNone/>
            </a:pPr>
            <a:r>
              <a:rPr lang="en-US" sz="14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Dataset Overview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1417320" y="3246120"/>
            <a:ext cx="42976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6,000-row, 10-column Amazon-style sales dataset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502920" y="3941064"/>
            <a:ext cx="5394960" cy="987552"/>
          </a:xfrm>
          <a:prstGeom prst="roundRect">
            <a:avLst>
              <a:gd name="adj" fmla="val 8333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704088" y="4160520"/>
            <a:ext cx="548640" cy="548640"/>
          </a:xfrm>
          <a:prstGeom prst="ellipse">
            <a:avLst/>
          </a:prstGeom>
          <a:solidFill>
            <a:srgbClr val="232F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4088" y="416052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60"/>
              <a:buFont typeface="Calibri"/>
              <a:buNone/>
            </a:pPr>
            <a:r>
              <a:rPr lang="en-US" sz="1560" b="1">
                <a:solidFill>
                  <a:srgbClr val="FF990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56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1417320" y="4059936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450"/>
              <a:buFont typeface="Calibri"/>
              <a:buNone/>
            </a:pPr>
            <a:r>
              <a:rPr lang="en-US" sz="14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Data Cleaning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1417320" y="4416552"/>
            <a:ext cx="42976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Power Query steps to fix nulls, duplicates &amp; inconsistent text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502920" y="5111496"/>
            <a:ext cx="5394960" cy="987552"/>
          </a:xfrm>
          <a:prstGeom prst="roundRect">
            <a:avLst>
              <a:gd name="adj" fmla="val 8333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704088" y="5330952"/>
            <a:ext cx="548640" cy="548640"/>
          </a:xfrm>
          <a:prstGeom prst="ellipse">
            <a:avLst/>
          </a:prstGeom>
          <a:solidFill>
            <a:srgbClr val="232F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704088" y="533095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60"/>
              <a:buFont typeface="Calibri"/>
              <a:buNone/>
            </a:pPr>
            <a:r>
              <a:rPr lang="en-US" sz="1560" b="1">
                <a:solidFill>
                  <a:srgbClr val="FF990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56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1417320" y="5230368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450"/>
              <a:buFont typeface="Calibri"/>
              <a:buNone/>
            </a:pPr>
            <a:r>
              <a:rPr lang="en-US" sz="14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Calculated Columns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1417320" y="5586984"/>
            <a:ext cx="42976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New fields derived inside the data model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6355080" y="1600200"/>
            <a:ext cx="4791891" cy="886968"/>
          </a:xfrm>
          <a:prstGeom prst="roundRect">
            <a:avLst>
              <a:gd name="adj" fmla="val 8333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6556248" y="1819656"/>
            <a:ext cx="548640" cy="548640"/>
          </a:xfrm>
          <a:prstGeom prst="ellipse">
            <a:avLst/>
          </a:prstGeom>
          <a:solidFill>
            <a:srgbClr val="232F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6556248" y="1819656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60"/>
              <a:buFont typeface="Calibri"/>
              <a:buNone/>
            </a:pPr>
            <a:r>
              <a:rPr lang="en-US" sz="1560" b="1">
                <a:solidFill>
                  <a:srgbClr val="FF9900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6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7269480" y="1719072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450"/>
              <a:buFont typeface="Calibri"/>
              <a:buNone/>
            </a:pPr>
            <a:r>
              <a:rPr lang="en-US" sz="14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DAX Measures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7269480" y="2075688"/>
            <a:ext cx="42976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Reusable calculations that power every visual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6355080" y="2770632"/>
            <a:ext cx="4791891" cy="886968"/>
          </a:xfrm>
          <a:prstGeom prst="roundRect">
            <a:avLst>
              <a:gd name="adj" fmla="val 8333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6556248" y="2990088"/>
            <a:ext cx="548640" cy="548640"/>
          </a:xfrm>
          <a:prstGeom prst="ellipse">
            <a:avLst/>
          </a:prstGeom>
          <a:solidFill>
            <a:srgbClr val="232F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2"/>
          <p:cNvSpPr/>
          <p:nvPr/>
        </p:nvSpPr>
        <p:spPr>
          <a:xfrm>
            <a:off x="6556248" y="299008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60"/>
              <a:buFont typeface="Calibri"/>
              <a:buNone/>
            </a:pPr>
            <a:r>
              <a:rPr lang="en-US" sz="1560" b="1">
                <a:solidFill>
                  <a:srgbClr val="FF9900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56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7269480" y="2889504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450"/>
              <a:buFont typeface="Calibri"/>
              <a:buNone/>
            </a:pPr>
            <a:r>
              <a:rPr lang="en-US" sz="14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Chart Specifications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7269480" y="3246120"/>
            <a:ext cx="42976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Which chart, which fields, which question it answers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6355080" y="3941064"/>
            <a:ext cx="4791891" cy="987552"/>
          </a:xfrm>
          <a:prstGeom prst="roundRect">
            <a:avLst>
              <a:gd name="adj" fmla="val 8333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2"/>
          <p:cNvSpPr/>
          <p:nvPr/>
        </p:nvSpPr>
        <p:spPr>
          <a:xfrm>
            <a:off x="6556248" y="4160520"/>
            <a:ext cx="548640" cy="548640"/>
          </a:xfrm>
          <a:prstGeom prst="ellipse">
            <a:avLst/>
          </a:prstGeom>
          <a:solidFill>
            <a:srgbClr val="232F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2"/>
          <p:cNvSpPr/>
          <p:nvPr/>
        </p:nvSpPr>
        <p:spPr>
          <a:xfrm>
            <a:off x="6556248" y="416052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60"/>
              <a:buFont typeface="Calibri"/>
              <a:buNone/>
            </a:pPr>
            <a:r>
              <a:rPr lang="en-US" sz="1560" b="1">
                <a:solidFill>
                  <a:srgbClr val="FF9900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56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7269480" y="4059936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450"/>
              <a:buFont typeface="Calibri"/>
              <a:buNone/>
            </a:pPr>
            <a:r>
              <a:rPr lang="en-US" sz="14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3-Page Dashboard Layout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7269480" y="4416552"/>
            <a:ext cx="42976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Sales Overview · Product Analysis · Regional &amp; Customer View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2"/>
          <p:cNvSpPr/>
          <p:nvPr/>
        </p:nvSpPr>
        <p:spPr>
          <a:xfrm>
            <a:off x="6355080" y="5111496"/>
            <a:ext cx="4791891" cy="987552"/>
          </a:xfrm>
          <a:prstGeom prst="roundRect">
            <a:avLst>
              <a:gd name="adj" fmla="val 8333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2"/>
          <p:cNvSpPr/>
          <p:nvPr/>
        </p:nvSpPr>
        <p:spPr>
          <a:xfrm>
            <a:off x="6556248" y="5330952"/>
            <a:ext cx="548640" cy="548640"/>
          </a:xfrm>
          <a:prstGeom prst="ellipse">
            <a:avLst/>
          </a:prstGeom>
          <a:solidFill>
            <a:srgbClr val="232F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2"/>
          <p:cNvSpPr/>
          <p:nvPr/>
        </p:nvSpPr>
        <p:spPr>
          <a:xfrm>
            <a:off x="6556248" y="533095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60"/>
              <a:buFont typeface="Calibri"/>
              <a:buNone/>
            </a:pPr>
            <a:r>
              <a:rPr lang="en-US" sz="1560" b="1">
                <a:solidFill>
                  <a:srgbClr val="FF9900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56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7269480" y="5230368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450"/>
              <a:buFont typeface="Calibri"/>
              <a:buNone/>
            </a:pPr>
            <a:r>
              <a:rPr lang="en-US" sz="14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Key Insights &amp; Recommendations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7269480" y="5586984"/>
            <a:ext cx="42976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What the numbers actually tell us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Amazon Sales Dashboard  |  Power BI Project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2"/>
          <p:cNvSpPr/>
          <p:nvPr/>
        </p:nvSpPr>
        <p:spPr>
          <a:xfrm>
            <a:off x="11457432" y="6547104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"/>
          <p:cNvSpPr/>
          <p:nvPr/>
        </p:nvSpPr>
        <p:spPr>
          <a:xfrm>
            <a:off x="502920" y="384048"/>
            <a:ext cx="2421331" cy="310896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3"/>
          <p:cNvSpPr/>
          <p:nvPr/>
        </p:nvSpPr>
        <p:spPr>
          <a:xfrm>
            <a:off x="502920" y="384048"/>
            <a:ext cx="2421331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SECTION 1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232F3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Objective &amp; Business Question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0" name="Google Shape;80;p3"/>
          <p:cNvCxnSpPr/>
          <p:nvPr/>
        </p:nvCxnSpPr>
        <p:spPr>
          <a:xfrm>
            <a:off x="502920" y="1444752"/>
            <a:ext cx="0" cy="0"/>
          </a:xfrm>
          <a:prstGeom prst="straightConnector1">
            <a:avLst/>
          </a:prstGeom>
          <a:noFill/>
          <a:ln>
            <a:noFill/>
          </a:ln>
        </p:spPr>
      </p:cxnSp>
      <p:sp>
        <p:nvSpPr>
          <p:cNvPr id="81" name="Google Shape;81;p3"/>
          <p:cNvSpPr/>
          <p:nvPr/>
        </p:nvSpPr>
        <p:spPr>
          <a:xfrm>
            <a:off x="502920" y="1600200"/>
            <a:ext cx="6365966" cy="4434840"/>
          </a:xfrm>
          <a:prstGeom prst="roundRect">
            <a:avLst>
              <a:gd name="adj" fmla="val 2062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3"/>
          <p:cNvSpPr/>
          <p:nvPr/>
        </p:nvSpPr>
        <p:spPr>
          <a:xfrm>
            <a:off x="777240" y="1810512"/>
            <a:ext cx="6217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Objective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777240" y="2176272"/>
            <a:ext cx="621792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1F23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1B1F23"/>
                </a:solidFill>
                <a:latin typeface="Calibri"/>
                <a:ea typeface="Calibri"/>
                <a:cs typeface="Calibri"/>
                <a:sym typeface="Calibri"/>
              </a:rPr>
              <a:t>Build a 3-page Power BI dashboard on Amazon-style order data that lets a business user move from raw, messy transaction rows to a clean, trusted, interactive view of sales performance — without touching Excel formulas.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4" name="Google Shape;84;p3"/>
          <p:cNvCxnSpPr/>
          <p:nvPr/>
        </p:nvCxnSpPr>
        <p:spPr>
          <a:xfrm>
            <a:off x="777240" y="3127248"/>
            <a:ext cx="6172200" cy="0"/>
          </a:xfrm>
          <a:prstGeom prst="straightConnector1">
            <a:avLst/>
          </a:prstGeom>
          <a:noFill/>
          <a:ln w="12700" cap="flat" cmpd="sng">
            <a:solidFill>
              <a:srgbClr val="E2E4E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5" name="Google Shape;85;p3"/>
          <p:cNvSpPr/>
          <p:nvPr/>
        </p:nvSpPr>
        <p:spPr>
          <a:xfrm>
            <a:off x="777240" y="3246120"/>
            <a:ext cx="62179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Key Business Questions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777240" y="3639312"/>
            <a:ext cx="292608" cy="292608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3"/>
          <p:cNvSpPr/>
          <p:nvPr/>
        </p:nvSpPr>
        <p:spPr>
          <a:xfrm>
            <a:off x="777240" y="3639312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832"/>
              <a:buFont typeface="Calibri"/>
              <a:buNone/>
            </a:pPr>
            <a:r>
              <a:rPr lang="en-US" sz="832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3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1234440" y="3584448"/>
            <a:ext cx="57607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1F23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1F23"/>
                </a:solidFill>
                <a:latin typeface="Calibri"/>
                <a:ea typeface="Calibri"/>
                <a:cs typeface="Calibri"/>
                <a:sym typeface="Calibri"/>
              </a:rPr>
              <a:t>Which categories and products drive the most revenue?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777240" y="4142232"/>
            <a:ext cx="292608" cy="292608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777240" y="4142232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832"/>
              <a:buFont typeface="Calibri"/>
              <a:buNone/>
            </a:pPr>
            <a:r>
              <a:rPr lang="en-US" sz="832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3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1234440" y="4087368"/>
            <a:ext cx="57607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1F23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1F23"/>
                </a:solidFill>
                <a:latin typeface="Calibri"/>
                <a:ea typeface="Calibri"/>
                <a:cs typeface="Calibri"/>
                <a:sym typeface="Calibri"/>
              </a:rPr>
              <a:t>How does sales performance trend month over month?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777240" y="4645152"/>
            <a:ext cx="292608" cy="292608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777240" y="4645152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832"/>
              <a:buFont typeface="Calibri"/>
              <a:buNone/>
            </a:pPr>
            <a:r>
              <a:rPr lang="en-US" sz="832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3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3"/>
          <p:cNvSpPr/>
          <p:nvPr/>
        </p:nvSpPr>
        <p:spPr>
          <a:xfrm>
            <a:off x="1234440" y="4590288"/>
            <a:ext cx="57607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1F23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1F23"/>
                </a:solidFill>
                <a:latin typeface="Calibri"/>
                <a:ea typeface="Calibri"/>
                <a:cs typeface="Calibri"/>
                <a:sym typeface="Calibri"/>
              </a:rPr>
              <a:t>Which regions and payment methods should we prioritize?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"/>
          <p:cNvSpPr/>
          <p:nvPr/>
        </p:nvSpPr>
        <p:spPr>
          <a:xfrm>
            <a:off x="777240" y="5148072"/>
            <a:ext cx="292608" cy="292608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3"/>
          <p:cNvSpPr/>
          <p:nvPr/>
        </p:nvSpPr>
        <p:spPr>
          <a:xfrm>
            <a:off x="777240" y="5148072"/>
            <a:ext cx="29260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832"/>
              <a:buFont typeface="Calibri"/>
              <a:buNone/>
            </a:pPr>
            <a:r>
              <a:rPr lang="en-US" sz="832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3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3"/>
          <p:cNvSpPr/>
          <p:nvPr/>
        </p:nvSpPr>
        <p:spPr>
          <a:xfrm>
            <a:off x="1234440" y="5093208"/>
            <a:ext cx="57607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1F23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B1F23"/>
                </a:solidFill>
                <a:latin typeface="Calibri"/>
                <a:ea typeface="Calibri"/>
                <a:cs typeface="Calibri"/>
                <a:sym typeface="Calibri"/>
              </a:rPr>
              <a:t>How much of our raw data is unreliable — and does it change the answer?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3"/>
          <p:cNvSpPr/>
          <p:nvPr/>
        </p:nvSpPr>
        <p:spPr>
          <a:xfrm>
            <a:off x="7223760" y="1600200"/>
            <a:ext cx="4880283" cy="4206240"/>
          </a:xfrm>
          <a:prstGeom prst="roundRect">
            <a:avLst>
              <a:gd name="adj" fmla="val 2151"/>
            </a:avLst>
          </a:prstGeom>
          <a:solidFill>
            <a:srgbClr val="232F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9" name="Google Shape;99;p3"/>
          <p:cNvSpPr/>
          <p:nvPr/>
        </p:nvSpPr>
        <p:spPr>
          <a:xfrm>
            <a:off x="7772400" y="1874520"/>
            <a:ext cx="502920" cy="50292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3"/>
          <p:cNvSpPr/>
          <p:nvPr/>
        </p:nvSpPr>
        <p:spPr>
          <a:xfrm>
            <a:off x="7772400" y="187452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430"/>
              <a:buFont typeface="Calibri"/>
              <a:buNone/>
            </a:pPr>
            <a:r>
              <a:rPr lang="en-US" sz="143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!</a:t>
            </a:r>
            <a:endParaRPr sz="143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3"/>
          <p:cNvSpPr/>
          <p:nvPr/>
        </p:nvSpPr>
        <p:spPr>
          <a:xfrm>
            <a:off x="8412480" y="187452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Headline Insight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3"/>
          <p:cNvSpPr/>
          <p:nvPr/>
        </p:nvSpPr>
        <p:spPr>
          <a:xfrm>
            <a:off x="7726680" y="2542032"/>
            <a:ext cx="37033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4000"/>
              <a:buFont typeface="Bookman Old Style"/>
              <a:buNone/>
            </a:pPr>
            <a:r>
              <a:rPr lang="en-US" sz="4000" b="1" dirty="0">
                <a:solidFill>
                  <a:srgbClr val="FF99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62.9M</a:t>
            </a:r>
            <a:endParaRPr sz="4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7726680" y="3246120"/>
            <a:ext cx="365760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total clean sales across 5,820 valid orders — after removing 180 duplicate rows and 508 incomplete rows from the raw 6,000-row extract.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4" name="Google Shape;104;p3"/>
          <p:cNvCxnSpPr/>
          <p:nvPr/>
        </p:nvCxnSpPr>
        <p:spPr>
          <a:xfrm>
            <a:off x="7726680" y="4434840"/>
            <a:ext cx="3657600" cy="0"/>
          </a:xfrm>
          <a:prstGeom prst="straightConnector1">
            <a:avLst/>
          </a:prstGeom>
          <a:noFill/>
          <a:ln w="19050" cap="flat" cmpd="sng">
            <a:solidFill>
              <a:srgbClr val="37475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5" name="Google Shape;105;p3"/>
          <p:cNvSpPr/>
          <p:nvPr/>
        </p:nvSpPr>
        <p:spPr>
          <a:xfrm>
            <a:off x="7726680" y="4617720"/>
            <a:ext cx="3657600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i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Furniture is the #1 category by revenue (₹2.15 Cr) despite ranking last in units sold — a high-value, low-volume product line.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3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Amazon Sales Dashboard  |  Power BI Project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3"/>
          <p:cNvSpPr/>
          <p:nvPr/>
        </p:nvSpPr>
        <p:spPr>
          <a:xfrm>
            <a:off x="11457432" y="6547104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>
            <a:off x="502920" y="384048"/>
            <a:ext cx="2421331" cy="310896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502920" y="384048"/>
            <a:ext cx="2421331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SECTION 2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232F3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Dataset Overview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6" name="Google Shape;116;p4"/>
          <p:cNvCxnSpPr/>
          <p:nvPr/>
        </p:nvCxnSpPr>
        <p:spPr>
          <a:xfrm>
            <a:off x="502920" y="1444752"/>
            <a:ext cx="0" cy="0"/>
          </a:xfrm>
          <a:prstGeom prst="straightConnector1">
            <a:avLst/>
          </a:prstGeom>
          <a:noFill/>
          <a:ln>
            <a:noFill/>
          </a:ln>
        </p:spPr>
      </p:cxnSp>
      <p:sp>
        <p:nvSpPr>
          <p:cNvPr id="117" name="Google Shape;117;p4"/>
          <p:cNvSpPr/>
          <p:nvPr/>
        </p:nvSpPr>
        <p:spPr>
          <a:xfrm>
            <a:off x="502920" y="1481328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amazon_sales_dashboard_data.csv  ·  6,000 rows  ×  10 columns  ·  Jan 2023 – Dec 2024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18" name="Google Shape;118;p4"/>
          <p:cNvGraphicFramePr/>
          <p:nvPr/>
        </p:nvGraphicFramePr>
        <p:xfrm>
          <a:off x="502920" y="1901952"/>
          <a:ext cx="7635250" cy="442557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691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9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Column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 Type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Description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2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Order_ID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Text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Unique order identifier (e.g. AMZ100243)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Order_Date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Date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Date the order was placed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Category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Text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Product category (10 categories)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Product_Name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Text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Specific product ordered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Quantity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Whole Number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Units purchased in the order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Price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Decimal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Unit price in ₹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Sales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Decimal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Quantity × Price (raw, pre-cleaning)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Region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Text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 / South / East / West / Central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Customer_Name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Text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Customer full name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Payment_Method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Text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Credit Card, UPI, COD, etc.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19" name="Google Shape;119;p4"/>
          <p:cNvSpPr/>
          <p:nvPr/>
        </p:nvSpPr>
        <p:spPr>
          <a:xfrm>
            <a:off x="8366760" y="1901952"/>
            <a:ext cx="3337560" cy="4480560"/>
          </a:xfrm>
          <a:prstGeom prst="roundRect">
            <a:avLst>
              <a:gd name="adj" fmla="val 2740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"/>
          <p:cNvSpPr/>
          <p:nvPr/>
        </p:nvSpPr>
        <p:spPr>
          <a:xfrm>
            <a:off x="8595360" y="2084832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Raw Data Snapshot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8595360" y="2542032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67E00"/>
              </a:buClr>
              <a:buSzPts val="2600"/>
              <a:buFont typeface="Bookman Old Style"/>
              <a:buNone/>
            </a:pPr>
            <a:r>
              <a:rPr lang="en-US" sz="2600" b="1">
                <a:solidFill>
                  <a:srgbClr val="E67E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6,000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8595360" y="2999232"/>
            <a:ext cx="288036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total rows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8595360" y="3474720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67E00"/>
              </a:buClr>
              <a:buSzPts val="2600"/>
              <a:buFont typeface="Bookman Old Style"/>
              <a:buNone/>
            </a:pPr>
            <a:r>
              <a:rPr lang="en-US" sz="2600" b="1">
                <a:solidFill>
                  <a:srgbClr val="E67E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180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8595360" y="3931920"/>
            <a:ext cx="288036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exact duplicate rows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8595360" y="4407408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67E00"/>
              </a:buClr>
              <a:buSzPts val="2600"/>
              <a:buFont typeface="Bookman Old Style"/>
              <a:buNone/>
            </a:pPr>
            <a:r>
              <a:rPr lang="en-US" sz="2600" b="1">
                <a:solidFill>
                  <a:srgbClr val="E67E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508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8595360" y="4864608"/>
            <a:ext cx="288036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rows with missing values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8595360" y="5340096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67E00"/>
              </a:buClr>
              <a:buSzPts val="2600"/>
              <a:buFont typeface="Bookman Old Style"/>
              <a:buNone/>
            </a:pPr>
            <a:r>
              <a:rPr lang="en-US" sz="2600" b="1">
                <a:solidFill>
                  <a:srgbClr val="E67E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5,820</a:t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8595360" y="5797296"/>
            <a:ext cx="288036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clean, unique orders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Amazon Sales Dashboard  |  Power BI Project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11457432" y="6547104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"/>
          <p:cNvSpPr/>
          <p:nvPr/>
        </p:nvSpPr>
        <p:spPr>
          <a:xfrm>
            <a:off x="502920" y="384048"/>
            <a:ext cx="2421331" cy="310896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5"/>
          <p:cNvSpPr/>
          <p:nvPr/>
        </p:nvSpPr>
        <p:spPr>
          <a:xfrm>
            <a:off x="502920" y="384048"/>
            <a:ext cx="2421331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SECTION 3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232F3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Data Cleaning in Power Query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9" name="Google Shape;139;p5"/>
          <p:cNvCxnSpPr/>
          <p:nvPr/>
        </p:nvCxnSpPr>
        <p:spPr>
          <a:xfrm>
            <a:off x="502920" y="1444752"/>
            <a:ext cx="0" cy="0"/>
          </a:xfrm>
          <a:prstGeom prst="straightConnector1">
            <a:avLst/>
          </a:prstGeom>
          <a:noFill/>
          <a:ln>
            <a:noFill/>
          </a:ln>
        </p:spPr>
      </p:cxnSp>
      <p:sp>
        <p:nvSpPr>
          <p:cNvPr id="140" name="Google Shape;140;p5"/>
          <p:cNvSpPr/>
          <p:nvPr/>
        </p:nvSpPr>
        <p:spPr>
          <a:xfrm>
            <a:off x="502920" y="1481328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Query steps applied, in order, inside Power Query Editor before loading to the data model: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502920" y="192024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"/>
          <p:cNvSpPr/>
          <p:nvPr/>
        </p:nvSpPr>
        <p:spPr>
          <a:xfrm>
            <a:off x="630936" y="2066544"/>
            <a:ext cx="621792" cy="621792"/>
          </a:xfrm>
          <a:prstGeom prst="roundRect">
            <a:avLst>
              <a:gd name="adj" fmla="val 11765"/>
            </a:avLst>
          </a:prstGeom>
          <a:solidFill>
            <a:srgbClr val="232F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5"/>
          <p:cNvSpPr/>
          <p:nvPr/>
        </p:nvSpPr>
        <p:spPr>
          <a:xfrm>
            <a:off x="630936" y="2066544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600"/>
              <a:buFont typeface="Bookman Old Style"/>
              <a:buNone/>
            </a:pPr>
            <a:r>
              <a:rPr lang="en-US" sz="1600" b="1">
                <a:solidFill>
                  <a:srgbClr val="FF99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01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1399032" y="2011680"/>
            <a:ext cx="44348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Promote Headers &amp; Set Types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1399032" y="2322576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1F23"/>
              </a:buClr>
              <a:buSzPts val="980"/>
              <a:buFont typeface="Calibri"/>
              <a:buNone/>
            </a:pPr>
            <a:r>
              <a:rPr lang="en-US" sz="980">
                <a:solidFill>
                  <a:srgbClr val="1B1F23"/>
                </a:solidFill>
                <a:latin typeface="Calibri"/>
                <a:ea typeface="Calibri"/>
                <a:cs typeface="Calibri"/>
                <a:sym typeface="Calibri"/>
              </a:rPr>
              <a:t>First row → headers; set Order_Date to Date, Quantity/Price/Sales to Decimal Number.</a:t>
            </a:r>
            <a:endParaRPr sz="98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5"/>
          <p:cNvSpPr/>
          <p:nvPr/>
        </p:nvSpPr>
        <p:spPr>
          <a:xfrm>
            <a:off x="502920" y="2980944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5"/>
          <p:cNvSpPr/>
          <p:nvPr/>
        </p:nvSpPr>
        <p:spPr>
          <a:xfrm>
            <a:off x="630936" y="3127248"/>
            <a:ext cx="621792" cy="621792"/>
          </a:xfrm>
          <a:prstGeom prst="roundRect">
            <a:avLst>
              <a:gd name="adj" fmla="val 11765"/>
            </a:avLst>
          </a:prstGeom>
          <a:solidFill>
            <a:srgbClr val="232F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5"/>
          <p:cNvSpPr/>
          <p:nvPr/>
        </p:nvSpPr>
        <p:spPr>
          <a:xfrm>
            <a:off x="630936" y="3127248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600"/>
              <a:buFont typeface="Bookman Old Style"/>
              <a:buNone/>
            </a:pPr>
            <a:r>
              <a:rPr lang="en-US" sz="1600" b="1">
                <a:solidFill>
                  <a:srgbClr val="FF99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02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/>
          <p:nvPr/>
        </p:nvSpPr>
        <p:spPr>
          <a:xfrm>
            <a:off x="1399032" y="3072384"/>
            <a:ext cx="44348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Trim &amp; Clean Text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5"/>
          <p:cNvSpPr/>
          <p:nvPr/>
        </p:nvSpPr>
        <p:spPr>
          <a:xfrm>
            <a:off x="1399032" y="3383280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1F23"/>
              </a:buClr>
              <a:buSzPts val="980"/>
              <a:buFont typeface="Calibri"/>
              <a:buNone/>
            </a:pPr>
            <a:r>
              <a:rPr lang="en-US" sz="980">
                <a:solidFill>
                  <a:srgbClr val="1B1F23"/>
                </a:solidFill>
                <a:latin typeface="Calibri"/>
                <a:ea typeface="Calibri"/>
                <a:cs typeface="Calibri"/>
                <a:sym typeface="Calibri"/>
              </a:rPr>
              <a:t>Applied to Region — removes leading/trailing spaces (" North", "South ") picked up at source.</a:t>
            </a:r>
            <a:endParaRPr sz="98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5"/>
          <p:cNvSpPr/>
          <p:nvPr/>
        </p:nvSpPr>
        <p:spPr>
          <a:xfrm>
            <a:off x="502920" y="4041648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5"/>
          <p:cNvSpPr/>
          <p:nvPr/>
        </p:nvSpPr>
        <p:spPr>
          <a:xfrm>
            <a:off x="630936" y="4187952"/>
            <a:ext cx="621792" cy="621792"/>
          </a:xfrm>
          <a:prstGeom prst="roundRect">
            <a:avLst>
              <a:gd name="adj" fmla="val 11765"/>
            </a:avLst>
          </a:prstGeom>
          <a:solidFill>
            <a:srgbClr val="232F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5"/>
          <p:cNvSpPr/>
          <p:nvPr/>
        </p:nvSpPr>
        <p:spPr>
          <a:xfrm>
            <a:off x="630936" y="4187952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600"/>
              <a:buFont typeface="Bookman Old Style"/>
              <a:buNone/>
            </a:pPr>
            <a:r>
              <a:rPr lang="en-US" sz="1600" b="1">
                <a:solidFill>
                  <a:srgbClr val="FF99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03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1399032" y="4133088"/>
            <a:ext cx="44348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Standardize Case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5"/>
          <p:cNvSpPr/>
          <p:nvPr/>
        </p:nvSpPr>
        <p:spPr>
          <a:xfrm>
            <a:off x="1399032" y="4443984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1F23"/>
              </a:buClr>
              <a:buSzPts val="980"/>
              <a:buFont typeface="Calibri"/>
              <a:buNone/>
            </a:pPr>
            <a:r>
              <a:rPr lang="en-US" sz="980">
                <a:solidFill>
                  <a:srgbClr val="1B1F23"/>
                </a:solidFill>
                <a:latin typeface="Calibri"/>
                <a:ea typeface="Calibri"/>
                <a:cs typeface="Calibri"/>
                <a:sym typeface="Calibri"/>
              </a:rPr>
              <a:t>Format &gt; Capitalize Each Word on Region so "north", "NORTH", "North" all merge into one value.</a:t>
            </a:r>
            <a:endParaRPr sz="98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5"/>
          <p:cNvSpPr/>
          <p:nvPr/>
        </p:nvSpPr>
        <p:spPr>
          <a:xfrm>
            <a:off x="502920" y="5102352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5"/>
          <p:cNvSpPr/>
          <p:nvPr/>
        </p:nvSpPr>
        <p:spPr>
          <a:xfrm>
            <a:off x="630936" y="5248656"/>
            <a:ext cx="621792" cy="621792"/>
          </a:xfrm>
          <a:prstGeom prst="roundRect">
            <a:avLst>
              <a:gd name="adj" fmla="val 11765"/>
            </a:avLst>
          </a:prstGeom>
          <a:solidFill>
            <a:srgbClr val="232F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5"/>
          <p:cNvSpPr/>
          <p:nvPr/>
        </p:nvSpPr>
        <p:spPr>
          <a:xfrm>
            <a:off x="630936" y="5248656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600"/>
              <a:buFont typeface="Bookman Old Style"/>
              <a:buNone/>
            </a:pPr>
            <a:r>
              <a:rPr lang="en-US" sz="1600" b="1">
                <a:solidFill>
                  <a:srgbClr val="FF99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04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1399032" y="5193792"/>
            <a:ext cx="44348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Remove Duplicate Rows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1399032" y="5504688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1F23"/>
              </a:buClr>
              <a:buSzPts val="980"/>
              <a:buFont typeface="Calibri"/>
              <a:buNone/>
            </a:pPr>
            <a:r>
              <a:rPr lang="en-US" sz="980">
                <a:solidFill>
                  <a:srgbClr val="1B1F23"/>
                </a:solidFill>
                <a:latin typeface="Calibri"/>
                <a:ea typeface="Calibri"/>
                <a:cs typeface="Calibri"/>
                <a:sym typeface="Calibri"/>
              </a:rPr>
              <a:t>Remove Rows &gt; Remove Duplicates across all columns — removed 180 exact duplicate order rows.</a:t>
            </a:r>
            <a:endParaRPr sz="98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6309360" y="192024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5"/>
          <p:cNvSpPr/>
          <p:nvPr/>
        </p:nvSpPr>
        <p:spPr>
          <a:xfrm>
            <a:off x="6437376" y="2066544"/>
            <a:ext cx="621792" cy="621792"/>
          </a:xfrm>
          <a:prstGeom prst="roundRect">
            <a:avLst>
              <a:gd name="adj" fmla="val 11765"/>
            </a:avLst>
          </a:prstGeom>
          <a:solidFill>
            <a:srgbClr val="232F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5"/>
          <p:cNvSpPr/>
          <p:nvPr/>
        </p:nvSpPr>
        <p:spPr>
          <a:xfrm>
            <a:off x="6437376" y="2066544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600"/>
              <a:buFont typeface="Bookman Old Style"/>
              <a:buNone/>
            </a:pPr>
            <a:r>
              <a:rPr lang="en-US" sz="1600" b="1">
                <a:solidFill>
                  <a:srgbClr val="FF99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05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7205472" y="2011680"/>
            <a:ext cx="44348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Handle Missing Values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7205472" y="2322576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1F23"/>
              </a:buClr>
              <a:buSzPts val="980"/>
              <a:buFont typeface="Calibri"/>
              <a:buNone/>
            </a:pPr>
            <a:r>
              <a:rPr lang="en-US" sz="980">
                <a:solidFill>
                  <a:srgbClr val="1B1F23"/>
                </a:solidFill>
                <a:latin typeface="Calibri"/>
                <a:ea typeface="Calibri"/>
                <a:cs typeface="Calibri"/>
                <a:sym typeface="Calibri"/>
              </a:rPr>
              <a:t>Filtered/flagged blanks in Region, Payment_Method, Customer_Name, Price &amp; Quantity (508 rows) rather than silently guessing.</a:t>
            </a:r>
            <a:endParaRPr sz="98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6309360" y="2980944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5"/>
          <p:cNvSpPr/>
          <p:nvPr/>
        </p:nvSpPr>
        <p:spPr>
          <a:xfrm>
            <a:off x="6437376" y="3127248"/>
            <a:ext cx="621792" cy="621792"/>
          </a:xfrm>
          <a:prstGeom prst="roundRect">
            <a:avLst>
              <a:gd name="adj" fmla="val 11765"/>
            </a:avLst>
          </a:prstGeom>
          <a:solidFill>
            <a:srgbClr val="232F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5"/>
          <p:cNvSpPr/>
          <p:nvPr/>
        </p:nvSpPr>
        <p:spPr>
          <a:xfrm>
            <a:off x="6437376" y="3127248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600"/>
              <a:buFont typeface="Bookman Old Style"/>
              <a:buNone/>
            </a:pPr>
            <a:r>
              <a:rPr lang="en-US" sz="1600" b="1">
                <a:solidFill>
                  <a:srgbClr val="FF99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06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7205472" y="3072384"/>
            <a:ext cx="44348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Filter Invalid Rows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7205472" y="3383280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1F23"/>
              </a:buClr>
              <a:buSzPts val="980"/>
              <a:buFont typeface="Calibri"/>
              <a:buNone/>
            </a:pPr>
            <a:r>
              <a:rPr lang="en-US" sz="980">
                <a:solidFill>
                  <a:srgbClr val="1B1F23"/>
                </a:solidFill>
                <a:latin typeface="Calibri"/>
                <a:ea typeface="Calibri"/>
                <a:cs typeface="Calibri"/>
                <a:sym typeface="Calibri"/>
              </a:rPr>
              <a:t>Removed rows where Quantity ≤ 0 — data-entry errors that would distort revenue totals.</a:t>
            </a:r>
            <a:endParaRPr sz="98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5"/>
          <p:cNvSpPr/>
          <p:nvPr/>
        </p:nvSpPr>
        <p:spPr>
          <a:xfrm>
            <a:off x="6309360" y="4041648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5"/>
          <p:cNvSpPr/>
          <p:nvPr/>
        </p:nvSpPr>
        <p:spPr>
          <a:xfrm>
            <a:off x="6437376" y="4187952"/>
            <a:ext cx="621792" cy="621792"/>
          </a:xfrm>
          <a:prstGeom prst="roundRect">
            <a:avLst>
              <a:gd name="adj" fmla="val 11765"/>
            </a:avLst>
          </a:prstGeom>
          <a:solidFill>
            <a:srgbClr val="232F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6437376" y="4187952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600"/>
              <a:buFont typeface="Bookman Old Style"/>
              <a:buNone/>
            </a:pPr>
            <a:r>
              <a:rPr lang="en-US" sz="1600" b="1">
                <a:solidFill>
                  <a:srgbClr val="FF99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07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5"/>
          <p:cNvSpPr/>
          <p:nvPr/>
        </p:nvSpPr>
        <p:spPr>
          <a:xfrm>
            <a:off x="7205472" y="4133088"/>
            <a:ext cx="44348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Recompute Sales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5"/>
          <p:cNvSpPr/>
          <p:nvPr/>
        </p:nvSpPr>
        <p:spPr>
          <a:xfrm>
            <a:off x="7205472" y="4443984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1F23"/>
              </a:buClr>
              <a:buSzPts val="980"/>
              <a:buFont typeface="Calibri"/>
              <a:buNone/>
            </a:pPr>
            <a:r>
              <a:rPr lang="en-US" sz="980">
                <a:solidFill>
                  <a:srgbClr val="1B1F23"/>
                </a:solidFill>
                <a:latin typeface="Calibri"/>
                <a:ea typeface="Calibri"/>
                <a:cs typeface="Calibri"/>
                <a:sym typeface="Calibri"/>
              </a:rPr>
              <a:t>Replaced the raw Sales column with a calculated column so every row is internally consistent.</a:t>
            </a:r>
            <a:endParaRPr sz="98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5"/>
          <p:cNvSpPr/>
          <p:nvPr/>
        </p:nvSpPr>
        <p:spPr>
          <a:xfrm>
            <a:off x="6309360" y="5102352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5"/>
          <p:cNvSpPr/>
          <p:nvPr/>
        </p:nvSpPr>
        <p:spPr>
          <a:xfrm>
            <a:off x="6437376" y="5248656"/>
            <a:ext cx="621792" cy="621792"/>
          </a:xfrm>
          <a:prstGeom prst="roundRect">
            <a:avLst>
              <a:gd name="adj" fmla="val 11765"/>
            </a:avLst>
          </a:prstGeom>
          <a:solidFill>
            <a:srgbClr val="232F3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6437376" y="5248656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600"/>
              <a:buFont typeface="Bookman Old Style"/>
              <a:buNone/>
            </a:pPr>
            <a:r>
              <a:rPr lang="en-US" sz="1600" b="1">
                <a:solidFill>
                  <a:srgbClr val="FF99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08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5"/>
          <p:cNvSpPr/>
          <p:nvPr/>
        </p:nvSpPr>
        <p:spPr>
          <a:xfrm>
            <a:off x="7205472" y="5193792"/>
            <a:ext cx="44348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Close &amp; Load to Model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5"/>
          <p:cNvSpPr/>
          <p:nvPr/>
        </p:nvSpPr>
        <p:spPr>
          <a:xfrm>
            <a:off x="7205472" y="5504688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1F23"/>
              </a:buClr>
              <a:buSzPts val="980"/>
              <a:buFont typeface="Calibri"/>
              <a:buNone/>
            </a:pPr>
            <a:r>
              <a:rPr lang="en-US" sz="980">
                <a:solidFill>
                  <a:srgbClr val="1B1F23"/>
                </a:solidFill>
                <a:latin typeface="Calibri"/>
                <a:ea typeface="Calibri"/>
                <a:cs typeface="Calibri"/>
                <a:sym typeface="Calibri"/>
              </a:rPr>
              <a:t>Loaded the cleaned table into the Power BI data model for measures and visuals.</a:t>
            </a:r>
            <a:endParaRPr sz="98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Amazon Sales Dashboard  |  Power BI Project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11457432" y="6547104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"/>
          <p:cNvSpPr/>
          <p:nvPr/>
        </p:nvSpPr>
        <p:spPr>
          <a:xfrm>
            <a:off x="502920" y="384048"/>
            <a:ext cx="2421331" cy="310896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6"/>
          <p:cNvSpPr/>
          <p:nvPr/>
        </p:nvSpPr>
        <p:spPr>
          <a:xfrm>
            <a:off x="502920" y="384048"/>
            <a:ext cx="2421331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SECTION 4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6"/>
          <p:cNvSpPr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232F3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Calculated Columns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1" name="Google Shape;191;p6"/>
          <p:cNvCxnSpPr/>
          <p:nvPr/>
        </p:nvCxnSpPr>
        <p:spPr>
          <a:xfrm>
            <a:off x="502920" y="1444752"/>
            <a:ext cx="0" cy="0"/>
          </a:xfrm>
          <a:prstGeom prst="straightConnector1">
            <a:avLst/>
          </a:prstGeom>
          <a:noFill/>
          <a:ln>
            <a:noFill/>
          </a:ln>
        </p:spPr>
      </p:cxnSp>
      <p:sp>
        <p:nvSpPr>
          <p:cNvPr id="192" name="Google Shape;192;p6"/>
          <p:cNvSpPr/>
          <p:nvPr/>
        </p:nvSpPr>
        <p:spPr>
          <a:xfrm>
            <a:off x="502920" y="1481328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Added inside the Power BI data model (Table view &gt; New Column) — computed row-by-row and stored in the table.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93" name="Google Shape;193;p6"/>
          <p:cNvGraphicFramePr/>
          <p:nvPr>
            <p:extLst>
              <p:ext uri="{D42A27DB-BD31-4B8C-83A1-F6EECF244321}">
                <p14:modId xmlns:p14="http://schemas.microsoft.com/office/powerpoint/2010/main" val="2430282490"/>
              </p:ext>
            </p:extLst>
          </p:nvPr>
        </p:nvGraphicFramePr>
        <p:xfrm>
          <a:off x="502920" y="1901951"/>
          <a:ext cx="10524309" cy="3323192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9822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68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2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109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Column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Formula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Purpose</a:t>
                      </a:r>
                      <a:endParaRPr sz="12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2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268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Order Month</a:t>
                      </a:r>
                      <a:endParaRPr sz="10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7E00"/>
                        </a:buClr>
                        <a:buSzPts val="930"/>
                        <a:buFont typeface="Courier New"/>
                        <a:buNone/>
                      </a:pPr>
                      <a:r>
                        <a:rPr lang="en-US" sz="930" u="none" strike="noStrike" cap="none" dirty="0">
                          <a:solidFill>
                            <a:srgbClr val="E67E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Order Month = FORMAT(</a:t>
                      </a:r>
                      <a:r>
                        <a:rPr lang="en-US" sz="930" u="none" strike="noStrike" cap="none" dirty="0" err="1">
                          <a:solidFill>
                            <a:srgbClr val="E67E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Amazon_sales</a:t>
                      </a:r>
                      <a:r>
                        <a:rPr lang="en-US" sz="930" u="none" strike="noStrike" cap="none" dirty="0">
                          <a:solidFill>
                            <a:srgbClr val="E67E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[</a:t>
                      </a:r>
                      <a:r>
                        <a:rPr lang="en-US" sz="930" u="none" strike="noStrike" cap="none" dirty="0" err="1">
                          <a:solidFill>
                            <a:srgbClr val="E67E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Order_Date</a:t>
                      </a:r>
                      <a:r>
                        <a:rPr lang="en-US" sz="930" u="none" strike="noStrike" cap="none" dirty="0">
                          <a:solidFill>
                            <a:srgbClr val="E67E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], "MMM YYYY")</a:t>
                      </a:r>
                      <a:endParaRPr sz="930" u="none" strike="noStrike" cap="none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50" marR="91450" marT="45725" marB="45725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 dirty="0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Text label for slicers and axis grouping without altering the underlying date.</a:t>
                      </a:r>
                      <a:endParaRPr sz="1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68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Order Year</a:t>
                      </a:r>
                      <a:endParaRPr sz="10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7E00"/>
                        </a:buClr>
                        <a:buSzPts val="930"/>
                        <a:buFont typeface="Courier New"/>
                        <a:buNone/>
                      </a:pPr>
                      <a:r>
                        <a:rPr lang="en-US" sz="930" u="none" strike="noStrike" cap="none" dirty="0">
                          <a:solidFill>
                            <a:srgbClr val="E67E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Order Year = YEAR(</a:t>
                      </a:r>
                      <a:r>
                        <a:rPr lang="en-US" sz="930" u="none" strike="noStrike" cap="none" dirty="0" err="1">
                          <a:solidFill>
                            <a:srgbClr val="E67E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Amazon_sales</a:t>
                      </a:r>
                      <a:r>
                        <a:rPr lang="en-US" sz="930" u="none" strike="noStrike" cap="none" dirty="0">
                          <a:solidFill>
                            <a:srgbClr val="E67E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[</a:t>
                      </a:r>
                      <a:r>
                        <a:rPr lang="en-US" sz="930" u="none" strike="noStrike" cap="none" dirty="0" err="1">
                          <a:solidFill>
                            <a:srgbClr val="E67E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Order_Date</a:t>
                      </a:r>
                      <a:r>
                        <a:rPr lang="en-US" sz="930" u="none" strike="noStrike" cap="none" dirty="0">
                          <a:solidFill>
                            <a:srgbClr val="E67E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])</a:t>
                      </a:r>
                      <a:endParaRPr sz="930" u="none" strike="noStrike" cap="none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Enables year-over-year filters and visuals.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836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 dirty="0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Price Tier</a:t>
                      </a:r>
                      <a:endParaRPr sz="105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7E00"/>
                        </a:buClr>
                        <a:buSzPts val="930"/>
                        <a:buFont typeface="Courier New"/>
                        <a:buNone/>
                      </a:pPr>
                      <a:r>
                        <a:rPr lang="en-US" sz="930" u="none" strike="noStrike" cap="none" dirty="0">
                          <a:solidFill>
                            <a:srgbClr val="E67E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Price Tier = IF(</a:t>
                      </a:r>
                      <a:r>
                        <a:rPr lang="en-US" sz="930" u="none" strike="noStrike" cap="none" dirty="0" err="1">
                          <a:solidFill>
                            <a:srgbClr val="E67E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Amazon_sales</a:t>
                      </a:r>
                      <a:r>
                        <a:rPr lang="en-US" sz="930" u="none" strike="noStrike" cap="none" dirty="0">
                          <a:solidFill>
                            <a:srgbClr val="E67E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[Price] &gt;= 3000, "Premium", IF(</a:t>
                      </a:r>
                      <a:r>
                        <a:rPr lang="en-US" sz="930" u="none" strike="noStrike" cap="none" dirty="0" err="1">
                          <a:solidFill>
                            <a:srgbClr val="E67E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Amazon_sales</a:t>
                      </a:r>
                      <a:r>
                        <a:rPr lang="en-US" sz="930" u="none" strike="noStrike" cap="none" dirty="0">
                          <a:solidFill>
                            <a:srgbClr val="E67E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[Price] &gt;= 1000, "Mid", "Budget"))</a:t>
                      </a:r>
                      <a:endParaRPr sz="930" u="none" strike="noStrike" cap="none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Buckets products into pricing segments for the Product Analysis page.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836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Is Weekend Order</a:t>
                      </a:r>
                      <a:endParaRPr sz="10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7E00"/>
                        </a:buClr>
                        <a:buSzPts val="930"/>
                        <a:buFont typeface="Courier New"/>
                        <a:buNone/>
                      </a:pPr>
                      <a:r>
                        <a:rPr lang="en-US" sz="1430" u="none" strike="noStrike" cap="none" dirty="0">
                          <a:solidFill>
                            <a:srgbClr val="E67E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Is Weekend = IF(WEEKDAY(</a:t>
                      </a:r>
                      <a:r>
                        <a:rPr lang="en-US" sz="1430" u="none" strike="noStrike" cap="none" dirty="0" err="1">
                          <a:solidFill>
                            <a:srgbClr val="E67E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Amazon_sales</a:t>
                      </a:r>
                      <a:r>
                        <a:rPr lang="en-US" sz="1430" u="none" strike="noStrike" cap="none" dirty="0">
                          <a:solidFill>
                            <a:srgbClr val="E67E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[</a:t>
                      </a:r>
                      <a:r>
                        <a:rPr lang="en-US" sz="1430" u="none" strike="noStrike" cap="none" dirty="0" err="1">
                          <a:solidFill>
                            <a:srgbClr val="E67E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Order_Date</a:t>
                      </a:r>
                      <a:r>
                        <a:rPr lang="en-US" sz="1430" u="none" strike="noStrike" cap="none" dirty="0">
                          <a:solidFill>
                            <a:srgbClr val="E67E0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],2) &gt; 5, "Weekend", "Weekday")</a:t>
                      </a:r>
                      <a:endParaRPr sz="1430" u="none" strike="noStrike" cap="none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50" marR="91450" marT="45725" marB="45725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 dirty="0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Flags weekend vs weekday orders for demand-pattern analysis.</a:t>
                      </a:r>
                      <a:endParaRPr sz="1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94" name="Google Shape;194;p6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Amazon Sales Dashboard  |  Power BI Project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11457432" y="6547104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"/>
          <p:cNvSpPr/>
          <p:nvPr/>
        </p:nvSpPr>
        <p:spPr>
          <a:xfrm>
            <a:off x="502920" y="384048"/>
            <a:ext cx="2421331" cy="310896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7"/>
          <p:cNvSpPr/>
          <p:nvPr/>
        </p:nvSpPr>
        <p:spPr>
          <a:xfrm>
            <a:off x="502920" y="384048"/>
            <a:ext cx="2421331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SECTION 5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232F3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DAX Measures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4" name="Google Shape;204;p7"/>
          <p:cNvCxnSpPr/>
          <p:nvPr/>
        </p:nvCxnSpPr>
        <p:spPr>
          <a:xfrm>
            <a:off x="502920" y="1444752"/>
            <a:ext cx="0" cy="0"/>
          </a:xfrm>
          <a:prstGeom prst="straightConnector1">
            <a:avLst/>
          </a:prstGeom>
          <a:noFill/>
          <a:ln>
            <a:noFill/>
          </a:ln>
        </p:spPr>
      </p:cxnSp>
      <p:sp>
        <p:nvSpPr>
          <p:cNvPr id="205" name="Google Shape;205;p7"/>
          <p:cNvSpPr/>
          <p:nvPr/>
        </p:nvSpPr>
        <p:spPr>
          <a:xfrm>
            <a:off x="502920" y="1481328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Added in Report view (Modeling &gt; New Measure) — calculated on the fly in the current filter context, used by every chart &amp; KPI card.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502920" y="192024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7"/>
          <p:cNvSpPr/>
          <p:nvPr/>
        </p:nvSpPr>
        <p:spPr>
          <a:xfrm>
            <a:off x="649224" y="204825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7"/>
          <p:cNvSpPr/>
          <p:nvPr/>
        </p:nvSpPr>
        <p:spPr>
          <a:xfrm>
            <a:off x="649224" y="2048256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100"/>
              <a:buFont typeface="Calibri"/>
              <a:buNone/>
            </a:pPr>
            <a:r>
              <a:rPr lang="en-US" sz="1100" b="1" i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fx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7"/>
          <p:cNvSpPr/>
          <p:nvPr/>
        </p:nvSpPr>
        <p:spPr>
          <a:xfrm>
            <a:off x="1051560" y="1993392"/>
            <a:ext cx="48006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Total Sales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649224" y="2322576"/>
            <a:ext cx="519379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7E00"/>
              </a:buClr>
              <a:buSzPts val="860"/>
              <a:buFont typeface="Courier New"/>
              <a:buNone/>
            </a:pPr>
            <a:r>
              <a:rPr lang="en-US" sz="860" dirty="0">
                <a:solidFill>
                  <a:srgbClr val="E67E00"/>
                </a:solidFill>
                <a:latin typeface="Courier New"/>
                <a:ea typeface="Courier New"/>
                <a:cs typeface="Courier New"/>
                <a:sym typeface="Courier New"/>
              </a:rPr>
              <a:t>SUM(Amazon_sales[Sales])</a:t>
            </a:r>
            <a:endParaRPr sz="86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/>
          <p:nvPr/>
        </p:nvSpPr>
        <p:spPr>
          <a:xfrm>
            <a:off x="502920" y="2980944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7"/>
          <p:cNvSpPr/>
          <p:nvPr/>
        </p:nvSpPr>
        <p:spPr>
          <a:xfrm>
            <a:off x="649224" y="31089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7"/>
          <p:cNvSpPr/>
          <p:nvPr/>
        </p:nvSpPr>
        <p:spPr>
          <a:xfrm>
            <a:off x="649224" y="310896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100"/>
              <a:buFont typeface="Calibri"/>
              <a:buNone/>
            </a:pPr>
            <a:r>
              <a:rPr lang="en-US" sz="1100" b="1" i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fx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7"/>
          <p:cNvSpPr/>
          <p:nvPr/>
        </p:nvSpPr>
        <p:spPr>
          <a:xfrm>
            <a:off x="1051560" y="3054096"/>
            <a:ext cx="48006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Total Orders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7"/>
          <p:cNvSpPr/>
          <p:nvPr/>
        </p:nvSpPr>
        <p:spPr>
          <a:xfrm>
            <a:off x="649224" y="3383280"/>
            <a:ext cx="519379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7E00"/>
              </a:buClr>
              <a:buSzPts val="860"/>
              <a:buFont typeface="Courier New"/>
              <a:buNone/>
            </a:pPr>
            <a:r>
              <a:rPr lang="en-US" sz="860" dirty="0">
                <a:solidFill>
                  <a:srgbClr val="E67E00"/>
                </a:solidFill>
                <a:latin typeface="Courier New"/>
                <a:ea typeface="Courier New"/>
                <a:cs typeface="Courier New"/>
                <a:sym typeface="Courier New"/>
              </a:rPr>
              <a:t>DISTINCTCOUNT(Amazon_sales[</a:t>
            </a:r>
            <a:r>
              <a:rPr lang="en-US" sz="860" dirty="0" err="1">
                <a:solidFill>
                  <a:srgbClr val="E67E00"/>
                </a:solidFill>
                <a:latin typeface="Courier New"/>
                <a:ea typeface="Courier New"/>
                <a:cs typeface="Courier New"/>
                <a:sym typeface="Courier New"/>
              </a:rPr>
              <a:t>Order_ID</a:t>
            </a:r>
            <a:r>
              <a:rPr lang="en-US" sz="860" dirty="0">
                <a:solidFill>
                  <a:srgbClr val="E67E00"/>
                </a:solidFill>
                <a:latin typeface="Courier New"/>
                <a:ea typeface="Courier New"/>
                <a:cs typeface="Courier New"/>
                <a:sym typeface="Courier New"/>
              </a:rPr>
              <a:t>])</a:t>
            </a:r>
            <a:endParaRPr sz="86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502920" y="4041648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7"/>
          <p:cNvSpPr/>
          <p:nvPr/>
        </p:nvSpPr>
        <p:spPr>
          <a:xfrm>
            <a:off x="649224" y="416966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7"/>
          <p:cNvSpPr/>
          <p:nvPr/>
        </p:nvSpPr>
        <p:spPr>
          <a:xfrm>
            <a:off x="649224" y="4169664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100"/>
              <a:buFont typeface="Calibri"/>
              <a:buNone/>
            </a:pPr>
            <a:r>
              <a:rPr lang="en-US" sz="1100" b="1" i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fx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7"/>
          <p:cNvSpPr/>
          <p:nvPr/>
        </p:nvSpPr>
        <p:spPr>
          <a:xfrm>
            <a:off x="1051560" y="4114800"/>
            <a:ext cx="48006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250"/>
              <a:buFont typeface="Calibri"/>
              <a:buNone/>
            </a:pPr>
            <a:r>
              <a:rPr lang="en-US" sz="1250" b="1" dirty="0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Units Sold</a:t>
            </a:r>
            <a:endParaRPr sz="12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7"/>
          <p:cNvSpPr/>
          <p:nvPr/>
        </p:nvSpPr>
        <p:spPr>
          <a:xfrm>
            <a:off x="649224" y="4443984"/>
            <a:ext cx="519379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7E00"/>
              </a:buClr>
              <a:buSzPts val="860"/>
              <a:buFont typeface="Courier New"/>
              <a:buNone/>
            </a:pPr>
            <a:r>
              <a:rPr lang="en-US" sz="860" dirty="0">
                <a:solidFill>
                  <a:srgbClr val="E67E00"/>
                </a:solidFill>
                <a:latin typeface="Courier New"/>
                <a:ea typeface="Courier New"/>
                <a:cs typeface="Courier New"/>
                <a:sym typeface="Courier New"/>
              </a:rPr>
              <a:t>SUM(Amazon_sales[Quantity])</a:t>
            </a:r>
            <a:endParaRPr sz="86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7"/>
          <p:cNvSpPr/>
          <p:nvPr/>
        </p:nvSpPr>
        <p:spPr>
          <a:xfrm>
            <a:off x="502920" y="5102352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7"/>
          <p:cNvSpPr/>
          <p:nvPr/>
        </p:nvSpPr>
        <p:spPr>
          <a:xfrm>
            <a:off x="649224" y="5230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7"/>
          <p:cNvSpPr/>
          <p:nvPr/>
        </p:nvSpPr>
        <p:spPr>
          <a:xfrm>
            <a:off x="649224" y="5230368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100"/>
              <a:buFont typeface="Calibri"/>
              <a:buNone/>
            </a:pPr>
            <a:r>
              <a:rPr lang="en-US" sz="1100" b="1" i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fx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"/>
          <p:cNvSpPr/>
          <p:nvPr/>
        </p:nvSpPr>
        <p:spPr>
          <a:xfrm>
            <a:off x="1051560" y="5175504"/>
            <a:ext cx="48006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Avg Order Value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7"/>
          <p:cNvSpPr/>
          <p:nvPr/>
        </p:nvSpPr>
        <p:spPr>
          <a:xfrm>
            <a:off x="649224" y="5504688"/>
            <a:ext cx="519379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7E00"/>
              </a:buClr>
              <a:buSzPts val="860"/>
              <a:buFont typeface="Courier New"/>
              <a:buNone/>
            </a:pPr>
            <a:r>
              <a:rPr lang="en-US" sz="860">
                <a:solidFill>
                  <a:srgbClr val="E67E00"/>
                </a:solidFill>
                <a:latin typeface="Courier New"/>
                <a:ea typeface="Courier New"/>
                <a:cs typeface="Courier New"/>
                <a:sym typeface="Courier New"/>
              </a:rPr>
              <a:t>DIVIDE([Total Sales], [Total Orders])</a:t>
            </a:r>
            <a:endParaRPr sz="86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7"/>
          <p:cNvSpPr/>
          <p:nvPr/>
        </p:nvSpPr>
        <p:spPr>
          <a:xfrm>
            <a:off x="6309360" y="192024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7"/>
          <p:cNvSpPr/>
          <p:nvPr/>
        </p:nvSpPr>
        <p:spPr>
          <a:xfrm>
            <a:off x="6455664" y="204825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7"/>
          <p:cNvSpPr/>
          <p:nvPr/>
        </p:nvSpPr>
        <p:spPr>
          <a:xfrm>
            <a:off x="6455664" y="2048256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100"/>
              <a:buFont typeface="Calibri"/>
              <a:buNone/>
            </a:pPr>
            <a:r>
              <a:rPr lang="en-US" sz="1100" b="1" i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fx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7"/>
          <p:cNvSpPr/>
          <p:nvPr/>
        </p:nvSpPr>
        <p:spPr>
          <a:xfrm>
            <a:off x="6858000" y="1993392"/>
            <a:ext cx="48006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Total Customers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"/>
          <p:cNvSpPr/>
          <p:nvPr/>
        </p:nvSpPr>
        <p:spPr>
          <a:xfrm>
            <a:off x="6455664" y="2322576"/>
            <a:ext cx="519379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7E00"/>
              </a:buClr>
              <a:buSzPts val="860"/>
              <a:buFont typeface="Courier New"/>
              <a:buNone/>
            </a:pPr>
            <a:r>
              <a:rPr lang="en-US" sz="860" dirty="0">
                <a:solidFill>
                  <a:srgbClr val="E67E00"/>
                </a:solidFill>
                <a:latin typeface="Courier New"/>
                <a:ea typeface="Courier New"/>
                <a:cs typeface="Courier New"/>
                <a:sym typeface="Courier New"/>
              </a:rPr>
              <a:t>DISTINCTCOUNT(Amazon_sales[</a:t>
            </a:r>
            <a:r>
              <a:rPr lang="en-US" sz="860" dirty="0" err="1">
                <a:solidFill>
                  <a:srgbClr val="E67E00"/>
                </a:solidFill>
                <a:latin typeface="Courier New"/>
                <a:ea typeface="Courier New"/>
                <a:cs typeface="Courier New"/>
                <a:sym typeface="Courier New"/>
              </a:rPr>
              <a:t>Customer_Name</a:t>
            </a:r>
            <a:r>
              <a:rPr lang="en-US" sz="860" dirty="0">
                <a:solidFill>
                  <a:srgbClr val="E67E00"/>
                </a:solidFill>
                <a:latin typeface="Courier New"/>
                <a:ea typeface="Courier New"/>
                <a:cs typeface="Courier New"/>
                <a:sym typeface="Courier New"/>
              </a:rPr>
              <a:t>])</a:t>
            </a:r>
            <a:endParaRPr sz="86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7"/>
          <p:cNvSpPr/>
          <p:nvPr/>
        </p:nvSpPr>
        <p:spPr>
          <a:xfrm>
            <a:off x="6309360" y="2980944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7"/>
          <p:cNvSpPr/>
          <p:nvPr/>
        </p:nvSpPr>
        <p:spPr>
          <a:xfrm>
            <a:off x="6455664" y="31089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7"/>
          <p:cNvSpPr/>
          <p:nvPr/>
        </p:nvSpPr>
        <p:spPr>
          <a:xfrm>
            <a:off x="6455664" y="310896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100"/>
              <a:buFont typeface="Calibri"/>
              <a:buNone/>
            </a:pPr>
            <a:r>
              <a:rPr lang="en-US" sz="1100" b="1" i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fx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7"/>
          <p:cNvSpPr/>
          <p:nvPr/>
        </p:nvSpPr>
        <p:spPr>
          <a:xfrm>
            <a:off x="6858000" y="3054096"/>
            <a:ext cx="48006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Sales MoM % Change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"/>
          <p:cNvSpPr/>
          <p:nvPr/>
        </p:nvSpPr>
        <p:spPr>
          <a:xfrm>
            <a:off x="6455664" y="3383280"/>
            <a:ext cx="519379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7E00"/>
              </a:buClr>
              <a:buSzPts val="860"/>
              <a:buFont typeface="Courier New"/>
              <a:buNone/>
            </a:pPr>
            <a:r>
              <a:rPr lang="en-US" sz="860" dirty="0">
                <a:solidFill>
                  <a:srgbClr val="E67E00"/>
                </a:solidFill>
                <a:latin typeface="Courier New"/>
                <a:ea typeface="Courier New"/>
                <a:cs typeface="Courier New"/>
                <a:sym typeface="Courier New"/>
              </a:rPr>
              <a:t>DIVIDE([Total Sales] - CALCULATE([Total Sales], DATEADD(Amazon_sales[</a:t>
            </a:r>
            <a:r>
              <a:rPr lang="en-US" sz="860" dirty="0" err="1">
                <a:solidFill>
                  <a:srgbClr val="E67E00"/>
                </a:solidFill>
                <a:latin typeface="Courier New"/>
                <a:ea typeface="Courier New"/>
                <a:cs typeface="Courier New"/>
                <a:sym typeface="Courier New"/>
              </a:rPr>
              <a:t>Order_Date</a:t>
            </a:r>
            <a:r>
              <a:rPr lang="en-US" sz="860" dirty="0">
                <a:solidFill>
                  <a:srgbClr val="E67E00"/>
                </a:solidFill>
                <a:latin typeface="Courier New"/>
                <a:ea typeface="Courier New"/>
                <a:cs typeface="Courier New"/>
                <a:sym typeface="Courier New"/>
              </a:rPr>
              <a:t>], -1, MONTH)), CALCULATE([Total Sales], DATEADD(Amazon_sales[</a:t>
            </a:r>
            <a:r>
              <a:rPr lang="en-US" sz="860" dirty="0" err="1">
                <a:solidFill>
                  <a:srgbClr val="E67E00"/>
                </a:solidFill>
                <a:latin typeface="Courier New"/>
                <a:ea typeface="Courier New"/>
                <a:cs typeface="Courier New"/>
                <a:sym typeface="Courier New"/>
              </a:rPr>
              <a:t>Order_Date</a:t>
            </a:r>
            <a:r>
              <a:rPr lang="en-US" sz="860" dirty="0">
                <a:solidFill>
                  <a:srgbClr val="E67E00"/>
                </a:solidFill>
                <a:latin typeface="Courier New"/>
                <a:ea typeface="Courier New"/>
                <a:cs typeface="Courier New"/>
                <a:sym typeface="Courier New"/>
              </a:rPr>
              <a:t>], -1, MONTH)))</a:t>
            </a:r>
            <a:endParaRPr sz="86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7"/>
          <p:cNvSpPr/>
          <p:nvPr/>
        </p:nvSpPr>
        <p:spPr>
          <a:xfrm>
            <a:off x="6336792" y="4636008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7"/>
          <p:cNvSpPr/>
          <p:nvPr/>
        </p:nvSpPr>
        <p:spPr>
          <a:xfrm>
            <a:off x="6455664" y="416966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7"/>
          <p:cNvSpPr/>
          <p:nvPr/>
        </p:nvSpPr>
        <p:spPr>
          <a:xfrm>
            <a:off x="6455664" y="4169664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100"/>
              <a:buFont typeface="Calibri"/>
              <a:buNone/>
            </a:pPr>
            <a:r>
              <a:rPr lang="en-US" sz="1100" b="1" i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fx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7"/>
          <p:cNvSpPr/>
          <p:nvPr/>
        </p:nvSpPr>
        <p:spPr>
          <a:xfrm>
            <a:off x="6858000" y="4114800"/>
            <a:ext cx="48006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Top Category Sales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7"/>
          <p:cNvSpPr/>
          <p:nvPr/>
        </p:nvSpPr>
        <p:spPr>
          <a:xfrm>
            <a:off x="6336792" y="4443984"/>
            <a:ext cx="5312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7E00"/>
              </a:buClr>
              <a:buSzPts val="860"/>
              <a:buFont typeface="Courier New"/>
              <a:buNone/>
            </a:pPr>
            <a:r>
              <a:rPr lang="en-US" sz="860">
                <a:solidFill>
                  <a:srgbClr val="E67E00"/>
                </a:solidFill>
                <a:latin typeface="Courier New"/>
                <a:ea typeface="Courier New"/>
                <a:cs typeface="Courier New"/>
                <a:sym typeface="Courier New"/>
              </a:rPr>
              <a:t>CALCULATE([Total Sales], TOPN(1, VALUES(Amazon_Data[Category]), [Total Sales]))</a:t>
            </a:r>
            <a:endParaRPr sz="86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7"/>
          <p:cNvSpPr/>
          <p:nvPr/>
        </p:nvSpPr>
        <p:spPr>
          <a:xfrm>
            <a:off x="6309360" y="5102352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7"/>
          <p:cNvSpPr/>
          <p:nvPr/>
        </p:nvSpPr>
        <p:spPr>
          <a:xfrm>
            <a:off x="6455664" y="5230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7"/>
          <p:cNvSpPr/>
          <p:nvPr/>
        </p:nvSpPr>
        <p:spPr>
          <a:xfrm>
            <a:off x="6455664" y="5230368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100"/>
              <a:buFont typeface="Calibri"/>
              <a:buNone/>
            </a:pPr>
            <a:r>
              <a:rPr lang="en-US" sz="1100" b="1" i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fx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7"/>
          <p:cNvSpPr/>
          <p:nvPr/>
        </p:nvSpPr>
        <p:spPr>
          <a:xfrm>
            <a:off x="6858000" y="5175504"/>
            <a:ext cx="48006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% of Total Sales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7"/>
          <p:cNvSpPr/>
          <p:nvPr/>
        </p:nvSpPr>
        <p:spPr>
          <a:xfrm>
            <a:off x="6455664" y="5504688"/>
            <a:ext cx="519379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7E00"/>
              </a:buClr>
              <a:buSzPts val="860"/>
              <a:buFont typeface="Courier New"/>
              <a:buNone/>
            </a:pPr>
            <a:r>
              <a:rPr lang="en-US" sz="860">
                <a:solidFill>
                  <a:srgbClr val="E67E00"/>
                </a:solidFill>
                <a:latin typeface="Courier New"/>
                <a:ea typeface="Courier New"/>
                <a:cs typeface="Courier New"/>
                <a:sym typeface="Courier New"/>
              </a:rPr>
              <a:t>DIVIDE([Total Sales], CALCULATE([Total Sales], ALL(Amazon_Data)))</a:t>
            </a:r>
            <a:endParaRPr sz="86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7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Amazon Sales Dashboard  |  Power BI Project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7"/>
          <p:cNvSpPr/>
          <p:nvPr/>
        </p:nvSpPr>
        <p:spPr>
          <a:xfrm>
            <a:off x="11457432" y="6547104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8"/>
          <p:cNvSpPr/>
          <p:nvPr/>
        </p:nvSpPr>
        <p:spPr>
          <a:xfrm>
            <a:off x="502920" y="384048"/>
            <a:ext cx="2421331" cy="310896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8"/>
          <p:cNvSpPr/>
          <p:nvPr/>
        </p:nvSpPr>
        <p:spPr>
          <a:xfrm>
            <a:off x="502920" y="384048"/>
            <a:ext cx="2421331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SECTION 6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8"/>
          <p:cNvSpPr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232F3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Chart Specifications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6" name="Google Shape;256;p8"/>
          <p:cNvCxnSpPr/>
          <p:nvPr/>
        </p:nvCxnSpPr>
        <p:spPr>
          <a:xfrm>
            <a:off x="502920" y="1444752"/>
            <a:ext cx="0" cy="0"/>
          </a:xfrm>
          <a:prstGeom prst="straightConnector1">
            <a:avLst/>
          </a:prstGeom>
          <a:noFill/>
          <a:ln>
            <a:noFill/>
          </a:ln>
        </p:spPr>
      </p:cxnSp>
      <p:sp>
        <p:nvSpPr>
          <p:cNvPr id="257" name="Google Shape;257;p8"/>
          <p:cNvSpPr/>
          <p:nvPr/>
        </p:nvSpPr>
        <p:spPr>
          <a:xfrm>
            <a:off x="502920" y="1481328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Each visual is scoped to one clear question — mapped to the dashboard page it appears 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58" name="Google Shape;258;p8"/>
          <p:cNvGraphicFramePr/>
          <p:nvPr>
            <p:extLst>
              <p:ext uri="{D42A27DB-BD31-4B8C-83A1-F6EECF244321}">
                <p14:modId xmlns:p14="http://schemas.microsoft.com/office/powerpoint/2010/main" val="2115805184"/>
              </p:ext>
            </p:extLst>
          </p:nvPr>
        </p:nvGraphicFramePr>
        <p:xfrm>
          <a:off x="502920" y="1810512"/>
          <a:ext cx="11201400" cy="429775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005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09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9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Page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Chart Type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Fields Used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Question It Answers</a:t>
                      </a:r>
                      <a:endParaRPr sz="11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32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7E00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E67E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Page 1</a:t>
                      </a:r>
                      <a:endParaRPr sz="10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Line Chart</a:t>
                      </a:r>
                      <a:endParaRPr sz="10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Order Month (axis) × Total Sales (value)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i="1" u="none" strike="noStrike" cap="non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Is revenue trending up or down over time?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7E00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E67E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Page 1</a:t>
                      </a:r>
                      <a:endParaRPr sz="10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Donut Chart</a:t>
                      </a:r>
                      <a:endParaRPr sz="10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Payment_Method (legend) × Total Sales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i="1" u="none" strike="noStrike" cap="non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Which payment method contributes most revenue?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7E00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E67E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Page 1</a:t>
                      </a:r>
                      <a:endParaRPr sz="10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Bar Chart</a:t>
                      </a:r>
                      <a:endParaRPr sz="10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Region (axis) × Total Sales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i="1" u="none" strike="noStrike" cap="non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Which region sells the most, at a glance?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7E00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E67E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Page 2</a:t>
                      </a:r>
                      <a:endParaRPr sz="10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 dirty="0" err="1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Clustere</a:t>
                      </a:r>
                      <a:r>
                        <a:rPr lang="en-US" sz="1050" b="1" u="none" strike="noStrike" cap="none" dirty="0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Bar</a:t>
                      </a:r>
                      <a:endParaRPr sz="105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Category (axis) × Total Sales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i="1" u="none" strike="noStrike" cap="non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Which categories drive revenue?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7E00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E67E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Page 2</a:t>
                      </a:r>
                      <a:endParaRPr sz="10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Column Chart</a:t>
                      </a:r>
                      <a:endParaRPr sz="10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Product_Name (Top 5) × Total Sales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i="1" u="none" strike="noStrike" cap="non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What are our five best-selling products?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7E00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E67E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Page 2</a:t>
                      </a:r>
                      <a:endParaRPr sz="10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Clustered Column</a:t>
                      </a:r>
                      <a:endParaRPr sz="10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 dirty="0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Category × Units sold</a:t>
                      </a:r>
                      <a:endParaRPr sz="1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i="1" u="none" strike="noStrike" cap="non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Where does volume differ from revenue?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9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7E00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E67E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Page 3</a:t>
                      </a:r>
                      <a:endParaRPr sz="10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Bar Chart</a:t>
                      </a:r>
                      <a:endParaRPr sz="10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 dirty="0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Region × Total Orders</a:t>
                      </a:r>
                      <a:endParaRPr sz="1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i="1" u="none" strike="noStrike" cap="none" dirty="0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Which region places the most orders (not just ₹)?</a:t>
                      </a:r>
                      <a:endParaRPr sz="1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9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7E00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E67E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Page 3</a:t>
                      </a:r>
                      <a:endParaRPr sz="10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Donut Chart</a:t>
                      </a:r>
                      <a:endParaRPr sz="10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Region × Total Sales share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i="1" u="none" strike="noStrike" cap="non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What % share does each region hold?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9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67E00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E67E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Page 3</a:t>
                      </a:r>
                      <a:endParaRPr sz="10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F3E"/>
                        </a:buClr>
                        <a:buSzPts val="1050"/>
                        <a:buFont typeface="Calibri"/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232F3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Column Chart</a:t>
                      </a:r>
                      <a:endParaRPr sz="105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1F23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B1F23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Payment_Method × Total Orders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i="1" u="none" strike="noStrike" cap="none" dirty="0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Which payment method is used most often?</a:t>
                      </a:r>
                      <a:endParaRPr sz="1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4E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59" name="Google Shape;259;p8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Amazon Sales Dashboard  |  Power BI Project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8"/>
          <p:cNvSpPr/>
          <p:nvPr/>
        </p:nvSpPr>
        <p:spPr>
          <a:xfrm>
            <a:off x="11457432" y="6547104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A8D6B47-7CE8-EC70-17C7-DC94E4B694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416" y="0"/>
            <a:ext cx="12234832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462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74E6DCC-821C-0AB0-7D93-A84FECF6E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3781" y="29986"/>
            <a:ext cx="12245781" cy="6828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52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3BABD8-3A47-60F1-5630-5C682131AE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5561" y="-206829"/>
            <a:ext cx="12227561" cy="7599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737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2"/>
          <p:cNvSpPr/>
          <p:nvPr/>
        </p:nvSpPr>
        <p:spPr>
          <a:xfrm>
            <a:off x="502920" y="384048"/>
            <a:ext cx="2421331" cy="310896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12"/>
          <p:cNvSpPr/>
          <p:nvPr/>
        </p:nvSpPr>
        <p:spPr>
          <a:xfrm>
            <a:off x="502920" y="384048"/>
            <a:ext cx="2421331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SECTION 8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2"/>
          <p:cNvSpPr/>
          <p:nvPr/>
        </p:nvSpPr>
        <p:spPr>
          <a:xfrm>
            <a:off x="457200" y="749808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3000"/>
              <a:buFont typeface="Bookman Old Style"/>
              <a:buNone/>
            </a:pPr>
            <a:r>
              <a:rPr lang="en-US" sz="3000" b="1">
                <a:solidFill>
                  <a:srgbClr val="232F3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Key Insights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98" name="Google Shape;398;p12"/>
          <p:cNvCxnSpPr/>
          <p:nvPr/>
        </p:nvCxnSpPr>
        <p:spPr>
          <a:xfrm>
            <a:off x="502920" y="1444752"/>
            <a:ext cx="0" cy="0"/>
          </a:xfrm>
          <a:prstGeom prst="straightConnector1">
            <a:avLst/>
          </a:prstGeom>
          <a:noFill/>
          <a:ln>
            <a:noFill/>
          </a:ln>
        </p:spPr>
      </p:cxnSp>
      <p:sp>
        <p:nvSpPr>
          <p:cNvPr id="399" name="Google Shape;399;p12"/>
          <p:cNvSpPr/>
          <p:nvPr/>
        </p:nvSpPr>
        <p:spPr>
          <a:xfrm>
            <a:off x="502920" y="1645920"/>
            <a:ext cx="5440680" cy="1938528"/>
          </a:xfrm>
          <a:prstGeom prst="roundRect">
            <a:avLst>
              <a:gd name="adj" fmla="val 4245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12"/>
          <p:cNvSpPr/>
          <p:nvPr/>
        </p:nvSpPr>
        <p:spPr>
          <a:xfrm>
            <a:off x="704088" y="184708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12"/>
          <p:cNvSpPr/>
          <p:nvPr/>
        </p:nvSpPr>
        <p:spPr>
          <a:xfrm>
            <a:off x="704088" y="1847088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800"/>
              <a:buFont typeface="Bookman Old Style"/>
              <a:buNone/>
            </a:pPr>
            <a:r>
              <a:rPr lang="en-US" sz="1800" b="1">
                <a:solidFill>
                  <a:srgbClr val="232F3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1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2"/>
          <p:cNvSpPr/>
          <p:nvPr/>
        </p:nvSpPr>
        <p:spPr>
          <a:xfrm>
            <a:off x="1325880" y="1828800"/>
            <a:ext cx="44348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350"/>
              <a:buFont typeface="Calibri"/>
              <a:buNone/>
            </a:pPr>
            <a:r>
              <a:rPr lang="en-US" sz="13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Furniture leads on revenue, not volume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2"/>
          <p:cNvSpPr/>
          <p:nvPr/>
        </p:nvSpPr>
        <p:spPr>
          <a:xfrm>
            <a:off x="758952" y="2432304"/>
            <a:ext cx="49377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1B1F23"/>
              </a:buClr>
              <a:buSzPts val="1080"/>
              <a:buFont typeface="Calibri"/>
              <a:buNone/>
            </a:pPr>
            <a:r>
              <a:rPr lang="en-US" sz="1080">
                <a:solidFill>
                  <a:srgbClr val="1B1F23"/>
                </a:solidFill>
                <a:latin typeface="Calibri"/>
                <a:ea typeface="Calibri"/>
                <a:cs typeface="Calibri"/>
                <a:sym typeface="Calibri"/>
              </a:rPr>
              <a:t>Furniture earns ₹2.15 Cr (34% of total sales) from just 2,973 units — the lowest unit count of any category. High average selling price, not order count, drives this category.</a:t>
            </a:r>
            <a:endParaRPr sz="108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2"/>
          <p:cNvSpPr/>
          <p:nvPr/>
        </p:nvSpPr>
        <p:spPr>
          <a:xfrm>
            <a:off x="6355080" y="1645920"/>
            <a:ext cx="5440680" cy="1938528"/>
          </a:xfrm>
          <a:prstGeom prst="roundRect">
            <a:avLst>
              <a:gd name="adj" fmla="val 4245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p12"/>
          <p:cNvSpPr/>
          <p:nvPr/>
        </p:nvSpPr>
        <p:spPr>
          <a:xfrm>
            <a:off x="6556248" y="184708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12"/>
          <p:cNvSpPr/>
          <p:nvPr/>
        </p:nvSpPr>
        <p:spPr>
          <a:xfrm>
            <a:off x="6556248" y="1847088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800"/>
              <a:buFont typeface="Bookman Old Style"/>
              <a:buNone/>
            </a:pPr>
            <a:r>
              <a:rPr lang="en-US" sz="1800" b="1">
                <a:solidFill>
                  <a:srgbClr val="232F3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2"/>
          <p:cNvSpPr/>
          <p:nvPr/>
        </p:nvSpPr>
        <p:spPr>
          <a:xfrm>
            <a:off x="7178040" y="1828800"/>
            <a:ext cx="44348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350"/>
              <a:buFont typeface="Calibri"/>
              <a:buNone/>
            </a:pPr>
            <a:r>
              <a:rPr lang="en-US" sz="13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No single region dominates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2"/>
          <p:cNvSpPr/>
          <p:nvPr/>
        </p:nvSpPr>
        <p:spPr>
          <a:xfrm>
            <a:off x="6611112" y="2432304"/>
            <a:ext cx="49377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1B1F23"/>
              </a:buClr>
              <a:buSzPts val="1080"/>
              <a:buFont typeface="Calibri"/>
              <a:buNone/>
            </a:pPr>
            <a:r>
              <a:rPr lang="en-US" sz="1080">
                <a:solidFill>
                  <a:srgbClr val="1B1F23"/>
                </a:solidFill>
                <a:latin typeface="Calibri"/>
                <a:ea typeface="Calibri"/>
                <a:cs typeface="Calibri"/>
                <a:sym typeface="Calibri"/>
              </a:rPr>
              <a:t>Sales are evenly spread: South leads at ₹1.29 Cr but trails Central (last place) by only 13%. Regional strategy should focus on category mix, not broad regional pushes.</a:t>
            </a:r>
            <a:endParaRPr sz="108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2"/>
          <p:cNvSpPr/>
          <p:nvPr/>
        </p:nvSpPr>
        <p:spPr>
          <a:xfrm>
            <a:off x="502920" y="3794760"/>
            <a:ext cx="5440680" cy="1938528"/>
          </a:xfrm>
          <a:prstGeom prst="roundRect">
            <a:avLst>
              <a:gd name="adj" fmla="val 4245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12"/>
          <p:cNvSpPr/>
          <p:nvPr/>
        </p:nvSpPr>
        <p:spPr>
          <a:xfrm>
            <a:off x="704088" y="39959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12"/>
          <p:cNvSpPr/>
          <p:nvPr/>
        </p:nvSpPr>
        <p:spPr>
          <a:xfrm>
            <a:off x="704088" y="3995928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800"/>
              <a:buFont typeface="Bookman Old Style"/>
              <a:buNone/>
            </a:pPr>
            <a:r>
              <a:rPr lang="en-US" sz="1800" b="1">
                <a:solidFill>
                  <a:srgbClr val="232F3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3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2"/>
          <p:cNvSpPr/>
          <p:nvPr/>
        </p:nvSpPr>
        <p:spPr>
          <a:xfrm>
            <a:off x="1325880" y="3977640"/>
            <a:ext cx="44348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350"/>
              <a:buFont typeface="Calibri"/>
              <a:buNone/>
            </a:pPr>
            <a:r>
              <a:rPr lang="en-US" sz="13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Card payments still lead, but the gap is narrowing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2"/>
          <p:cNvSpPr/>
          <p:nvPr/>
        </p:nvSpPr>
        <p:spPr>
          <a:xfrm>
            <a:off x="758952" y="4581144"/>
            <a:ext cx="49377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1B1F23"/>
              </a:buClr>
              <a:buSzPts val="1080"/>
              <a:buFont typeface="Calibri"/>
              <a:buNone/>
            </a:pPr>
            <a:r>
              <a:rPr lang="en-US" sz="1080">
                <a:solidFill>
                  <a:srgbClr val="1B1F23"/>
                </a:solidFill>
                <a:latin typeface="Calibri"/>
                <a:ea typeface="Calibri"/>
                <a:cs typeface="Calibri"/>
                <a:sym typeface="Calibri"/>
              </a:rPr>
              <a:t>Credit Card (₹1.08 Cr) and Debit Card (₹1.07 Cr) top the list, but UPI — the newest method — already accounts for ₹93.5 L, showing fast digital-payment adoption.</a:t>
            </a:r>
            <a:endParaRPr sz="108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2"/>
          <p:cNvSpPr/>
          <p:nvPr/>
        </p:nvSpPr>
        <p:spPr>
          <a:xfrm>
            <a:off x="6355080" y="3794760"/>
            <a:ext cx="5440680" cy="1938528"/>
          </a:xfrm>
          <a:prstGeom prst="roundRect">
            <a:avLst>
              <a:gd name="adj" fmla="val 4245"/>
            </a:avLst>
          </a:prstGeom>
          <a:solidFill>
            <a:srgbClr val="F7F7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12"/>
          <p:cNvSpPr/>
          <p:nvPr/>
        </p:nvSpPr>
        <p:spPr>
          <a:xfrm>
            <a:off x="6556248" y="39959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12"/>
          <p:cNvSpPr/>
          <p:nvPr/>
        </p:nvSpPr>
        <p:spPr>
          <a:xfrm>
            <a:off x="6556248" y="3995928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800"/>
              <a:buFont typeface="Bookman Old Style"/>
              <a:buNone/>
            </a:pPr>
            <a:r>
              <a:rPr lang="en-US" sz="1800" b="1">
                <a:solidFill>
                  <a:srgbClr val="232F3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4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2"/>
          <p:cNvSpPr/>
          <p:nvPr/>
        </p:nvSpPr>
        <p:spPr>
          <a:xfrm>
            <a:off x="7178040" y="3977640"/>
            <a:ext cx="44348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350"/>
              <a:buFont typeface="Calibri"/>
              <a:buNone/>
            </a:pPr>
            <a:r>
              <a:rPr lang="en-US" sz="135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8% of raw data was unusable before cleaning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2"/>
          <p:cNvSpPr/>
          <p:nvPr/>
        </p:nvSpPr>
        <p:spPr>
          <a:xfrm>
            <a:off x="6611112" y="4581144"/>
            <a:ext cx="49377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1B1F23"/>
              </a:buClr>
              <a:buSzPts val="1080"/>
              <a:buFont typeface="Calibri"/>
              <a:buNone/>
            </a:pPr>
            <a:r>
              <a:rPr lang="en-US" sz="1080">
                <a:solidFill>
                  <a:srgbClr val="1B1F23"/>
                </a:solidFill>
                <a:latin typeface="Calibri"/>
                <a:ea typeface="Calibri"/>
                <a:cs typeface="Calibri"/>
                <a:sym typeface="Calibri"/>
              </a:rPr>
              <a:t>180 duplicate rows + 508 rows with missing Region, Payment Method, Customer, Price or Quantity had to be resolved in Power Query — without this step, revenue totals would have been overstated.</a:t>
            </a:r>
            <a:endParaRPr sz="108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2"/>
          <p:cNvSpPr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Amazon Sales Dashboard  |  Power BI Project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2"/>
          <p:cNvSpPr/>
          <p:nvPr/>
        </p:nvSpPr>
        <p:spPr>
          <a:xfrm>
            <a:off x="11457432" y="6547104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13"/>
          <p:cNvSpPr/>
          <p:nvPr/>
        </p:nvSpPr>
        <p:spPr>
          <a:xfrm>
            <a:off x="502920" y="502920"/>
            <a:ext cx="2487168" cy="310896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13"/>
          <p:cNvSpPr/>
          <p:nvPr/>
        </p:nvSpPr>
        <p:spPr>
          <a:xfrm>
            <a:off x="502920" y="502920"/>
            <a:ext cx="248716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3"/>
          <p:cNvSpPr/>
          <p:nvPr/>
        </p:nvSpPr>
        <p:spPr>
          <a:xfrm>
            <a:off x="502920" y="960120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Bookman Old Style"/>
              <a:buNone/>
            </a:pPr>
            <a:r>
              <a:rPr lang="en-US" sz="3000" b="1" dirty="0">
                <a:latin typeface="Bookman Old Style"/>
                <a:ea typeface="Bookman Old Style"/>
                <a:cs typeface="Bookman Old Style"/>
                <a:sym typeface="Bookman Old Style"/>
              </a:rPr>
              <a:t>From Raw Rows to a Trusted Dashboard</a:t>
            </a:r>
            <a:endParaRPr sz="30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3"/>
          <p:cNvSpPr/>
          <p:nvPr/>
        </p:nvSpPr>
        <p:spPr>
          <a:xfrm>
            <a:off x="502920" y="1828800"/>
            <a:ext cx="66751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50"/>
              <a:buFont typeface="Calibri"/>
              <a:buNone/>
            </a:pPr>
            <a:r>
              <a:rPr lang="en-US" sz="1350" dirty="0">
                <a:latin typeface="Calibri"/>
                <a:ea typeface="Calibri"/>
                <a:cs typeface="Calibri"/>
                <a:sym typeface="Calibri"/>
              </a:rPr>
              <a:t>A disciplined Power Query cleanup — deduping, trimming, standardizing case and filtering invalid rows — turned a noisy 6,000-row export into 5,820 trustworthy orders. Calculated columns and DAX measures then made every KPI and chart consistent across all three dashboard pages.</a:t>
            </a:r>
            <a:endParaRPr sz="135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3"/>
          <p:cNvSpPr/>
          <p:nvPr/>
        </p:nvSpPr>
        <p:spPr>
          <a:xfrm>
            <a:off x="502920" y="342900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Font typeface="Calibri"/>
              <a:buNone/>
            </a:pPr>
            <a:r>
              <a:rPr lang="en-US" sz="1500" b="1">
                <a:solidFill>
                  <a:srgbClr val="FF9900"/>
                </a:solidFill>
                <a:latin typeface="Calibri"/>
                <a:ea typeface="Calibri"/>
                <a:cs typeface="Calibri"/>
                <a:sym typeface="Calibri"/>
              </a:rPr>
              <a:t>Recommendations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3"/>
          <p:cNvSpPr/>
          <p:nvPr/>
        </p:nvSpPr>
        <p:spPr>
          <a:xfrm>
            <a:off x="502920" y="3840480"/>
            <a:ext cx="274320" cy="27432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13"/>
          <p:cNvSpPr/>
          <p:nvPr/>
        </p:nvSpPr>
        <p:spPr>
          <a:xfrm>
            <a:off x="502920" y="38404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780"/>
              <a:buFont typeface="Calibri"/>
              <a:buNone/>
            </a:pPr>
            <a:r>
              <a:rPr lang="en-US" sz="78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sz="78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3"/>
          <p:cNvSpPr/>
          <p:nvPr/>
        </p:nvSpPr>
        <p:spPr>
          <a:xfrm>
            <a:off x="932688" y="3776472"/>
            <a:ext cx="60350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Double down on Furniture &amp; Electronics — highest revenue per unit sold</a:t>
            </a:r>
            <a:endParaRPr sz="12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3"/>
          <p:cNvSpPr/>
          <p:nvPr/>
        </p:nvSpPr>
        <p:spPr>
          <a:xfrm>
            <a:off x="502920" y="4343400"/>
            <a:ext cx="274320" cy="27432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13"/>
          <p:cNvSpPr/>
          <p:nvPr/>
        </p:nvSpPr>
        <p:spPr>
          <a:xfrm>
            <a:off x="502920" y="434340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780"/>
              <a:buFont typeface="Calibri"/>
              <a:buNone/>
            </a:pPr>
            <a:r>
              <a:rPr lang="en-US" sz="78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sz="78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3"/>
          <p:cNvSpPr/>
          <p:nvPr/>
        </p:nvSpPr>
        <p:spPr>
          <a:xfrm>
            <a:off x="932688" y="4279392"/>
            <a:ext cx="60350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Investigate the October dip (both years) for seasonality or stock issues</a:t>
            </a:r>
            <a:endParaRPr sz="12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3"/>
          <p:cNvSpPr/>
          <p:nvPr/>
        </p:nvSpPr>
        <p:spPr>
          <a:xfrm>
            <a:off x="502920" y="4846320"/>
            <a:ext cx="274320" cy="27432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13"/>
          <p:cNvSpPr/>
          <p:nvPr/>
        </p:nvSpPr>
        <p:spPr>
          <a:xfrm>
            <a:off x="502920" y="484632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780"/>
              <a:buFont typeface="Calibri"/>
              <a:buNone/>
            </a:pPr>
            <a:r>
              <a:rPr lang="en-US" sz="78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sz="78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3"/>
          <p:cNvSpPr/>
          <p:nvPr/>
        </p:nvSpPr>
        <p:spPr>
          <a:xfrm>
            <a:off x="932688" y="4782312"/>
            <a:ext cx="60350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Promote UPI/Amazon Pay to shift customers off higher-friction COD orders</a:t>
            </a:r>
            <a:endParaRPr sz="12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3"/>
          <p:cNvSpPr/>
          <p:nvPr/>
        </p:nvSpPr>
        <p:spPr>
          <a:xfrm>
            <a:off x="502920" y="5349240"/>
            <a:ext cx="274320" cy="27432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3" name="Google Shape;443;p13"/>
          <p:cNvSpPr/>
          <p:nvPr/>
        </p:nvSpPr>
        <p:spPr>
          <a:xfrm>
            <a:off x="502920" y="534924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32F3E"/>
              </a:buClr>
              <a:buSzPts val="780"/>
              <a:buFont typeface="Calibri"/>
              <a:buNone/>
            </a:pPr>
            <a:r>
              <a:rPr lang="en-US" sz="780" b="1">
                <a:solidFill>
                  <a:srgbClr val="232F3E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 sz="78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3"/>
          <p:cNvSpPr/>
          <p:nvPr/>
        </p:nvSpPr>
        <p:spPr>
          <a:xfrm>
            <a:off x="932688" y="5285232"/>
            <a:ext cx="60350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Automate the Power Query cleaning steps so every data refresh stays trustworthy</a:t>
            </a:r>
            <a:endParaRPr sz="12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3"/>
          <p:cNvSpPr/>
          <p:nvPr/>
        </p:nvSpPr>
        <p:spPr>
          <a:xfrm>
            <a:off x="7863840" y="1828800"/>
            <a:ext cx="3840480" cy="4206240"/>
          </a:xfrm>
          <a:prstGeom prst="roundRect">
            <a:avLst>
              <a:gd name="adj" fmla="val 2381"/>
            </a:avLst>
          </a:prstGeom>
          <a:solidFill>
            <a:srgbClr val="3747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6" name="Google Shape;446;p13"/>
          <p:cNvSpPr/>
          <p:nvPr/>
        </p:nvSpPr>
        <p:spPr>
          <a:xfrm>
            <a:off x="8138160" y="205740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Deliverables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3"/>
          <p:cNvSpPr/>
          <p:nvPr/>
        </p:nvSpPr>
        <p:spPr>
          <a:xfrm>
            <a:off x="8138160" y="2560320"/>
            <a:ext cx="109728" cy="109728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3"/>
          <p:cNvSpPr/>
          <p:nvPr/>
        </p:nvSpPr>
        <p:spPr>
          <a:xfrm>
            <a:off x="8394192" y="2441448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6,000-row source CSV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3"/>
          <p:cNvSpPr/>
          <p:nvPr/>
        </p:nvSpPr>
        <p:spPr>
          <a:xfrm>
            <a:off x="8138160" y="3108960"/>
            <a:ext cx="109728" cy="109728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0" name="Google Shape;450;p13"/>
          <p:cNvSpPr/>
          <p:nvPr/>
        </p:nvSpPr>
        <p:spPr>
          <a:xfrm>
            <a:off x="8394192" y="2990088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Cleaned Power Query model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3"/>
          <p:cNvSpPr/>
          <p:nvPr/>
        </p:nvSpPr>
        <p:spPr>
          <a:xfrm>
            <a:off x="8138160" y="3657600"/>
            <a:ext cx="109728" cy="109728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p13"/>
          <p:cNvSpPr/>
          <p:nvPr/>
        </p:nvSpPr>
        <p:spPr>
          <a:xfrm>
            <a:off x="8394192" y="3538728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50"/>
              <a:buFont typeface="Calibri"/>
              <a:buNone/>
            </a:pPr>
            <a:r>
              <a:rPr lang="en-US" sz="1150" dirty="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4 calculated columns</a:t>
            </a:r>
            <a:endParaRPr sz="11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3"/>
          <p:cNvSpPr/>
          <p:nvPr/>
        </p:nvSpPr>
        <p:spPr>
          <a:xfrm>
            <a:off x="8138160" y="4206240"/>
            <a:ext cx="109728" cy="109728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p13"/>
          <p:cNvSpPr/>
          <p:nvPr/>
        </p:nvSpPr>
        <p:spPr>
          <a:xfrm>
            <a:off x="8394192" y="4087368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50"/>
              <a:buFont typeface="Calibri"/>
              <a:buNone/>
            </a:pPr>
            <a:r>
              <a:rPr lang="en-US" sz="1150" dirty="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8+ DAX measures</a:t>
            </a:r>
            <a:endParaRPr sz="11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3"/>
          <p:cNvSpPr/>
          <p:nvPr/>
        </p:nvSpPr>
        <p:spPr>
          <a:xfrm>
            <a:off x="8138160" y="4754880"/>
            <a:ext cx="109728" cy="109728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p13"/>
          <p:cNvSpPr/>
          <p:nvPr/>
        </p:nvSpPr>
        <p:spPr>
          <a:xfrm>
            <a:off x="8394192" y="4636008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9 charts across 3 pages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3"/>
          <p:cNvSpPr/>
          <p:nvPr/>
        </p:nvSpPr>
        <p:spPr>
          <a:xfrm>
            <a:off x="8138160" y="5303520"/>
            <a:ext cx="109728" cy="109728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13"/>
          <p:cNvSpPr/>
          <p:nvPr/>
        </p:nvSpPr>
        <p:spPr>
          <a:xfrm>
            <a:off x="8394192" y="5184648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This summary deck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58</TotalTime>
  <Words>1574</Words>
  <Application>Microsoft Office PowerPoint</Application>
  <PresentationFormat>Widescreen</PresentationFormat>
  <Paragraphs>265</Paragraphs>
  <Slides>13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Bookman Old Style</vt:lpstr>
      <vt:lpstr>Calibri</vt:lpstr>
      <vt:lpstr>Century Schoolbook</vt:lpstr>
      <vt:lpstr>Courier New</vt:lpstr>
      <vt:lpstr>Wingdings 2</vt:lpstr>
      <vt:lpstr>View</vt:lpstr>
      <vt:lpstr>Amazon Sales Dashboard Analysis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Anjana PC</dc:creator>
  <cp:lastModifiedBy>Anjana PC</cp:lastModifiedBy>
  <cp:revision>12</cp:revision>
  <dcterms:created xsi:type="dcterms:W3CDTF">2026-09-28T10:09:37Z</dcterms:created>
  <dcterms:modified xsi:type="dcterms:W3CDTF">2026-10-01T09:49:43Z</dcterms:modified>
</cp:coreProperties>
</file>